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" Type="http://schemas.openxmlformats.org/officeDocument/2006/relationships/image" Target="../media/image_accuracy.png"/><Relationship Id="rIdImg2" Type="http://schemas.openxmlformats.org/officeDocument/2006/relationships/image" Target="../media/image_loss.pn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" Type="http://schemas.openxmlformats.org/officeDocument/2006/relationships/image" Target="../media/image_cm.png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Top"/>
          <p:cNvSpPr/>
          <p:nvPr/>
        </p:nvSpPr>
        <p:spPr>
          <a:xfrm>
            <a:off x="0" y="0"/>
            <a:ext cx="12192000" cy="1152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Hero"/>
          <p:cNvSpPr/>
          <p:nvPr/>
        </p:nvSpPr>
        <p:spPr>
          <a:xfrm>
            <a:off x="306000" y="378000"/>
            <a:ext cx="6732000" cy="1764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486000" y="496799"/>
            <a:ext cx="6336000" cy="144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350" b="1" dirty="0">
                <a:solidFill>
                  <a:srgbClr val="2457D6"/>
                </a:solidFill>
                <a:latin typeface="Aptos"/>
              </a:rPr>
              <a:t>Abschlusspräsentation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60800" y="655200"/>
            <a:ext cx="6372000" cy="413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5400" b="1" dirty="0">
                <a:solidFill>
                  <a:srgbClr val="111827"/>
                </a:solidFill>
                <a:latin typeface="Aptos"/>
              </a:rPr>
              <a:t>SturzDetektion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86000" y="1087200"/>
            <a:ext cx="6192000" cy="234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300" b="0" dirty="0">
                <a:solidFill>
                  <a:srgbClr val="667085"/>
                </a:solidFill>
                <a:latin typeface="Aptos"/>
              </a:rPr>
              <a:t>KI-basierte Sturzerkennung mit lokalem TensorFlow-Lite-Modell</a:t>
            </a:r>
          </a:p>
        </p:txBody>
      </p:sp>
      <p:sp>
        <p:nvSpPr>
          <p:cNvPr id="8" name="Metric"/>
          <p:cNvSpPr/>
          <p:nvPr/>
        </p:nvSpPr>
        <p:spPr>
          <a:xfrm>
            <a:off x="486000" y="1602000"/>
            <a:ext cx="1490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514800" y="1630800"/>
            <a:ext cx="1432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Android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14800" y="1774800"/>
            <a:ext cx="1432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Java-App</a:t>
            </a:r>
          </a:p>
        </p:txBody>
      </p:sp>
      <p:sp>
        <p:nvSpPr>
          <p:cNvPr id="11" name="Metric"/>
          <p:cNvSpPr/>
          <p:nvPr/>
        </p:nvSpPr>
        <p:spPr>
          <a:xfrm>
            <a:off x="2041200" y="1602000"/>
            <a:ext cx="1490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2070000" y="1630800"/>
            <a:ext cx="1432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150 x 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070000" y="1774800"/>
            <a:ext cx="1432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Sensorfenster</a:t>
            </a:r>
          </a:p>
        </p:txBody>
      </p:sp>
      <p:sp>
        <p:nvSpPr>
          <p:cNvPr id="14" name="Metric"/>
          <p:cNvSpPr/>
          <p:nvPr/>
        </p:nvSpPr>
        <p:spPr>
          <a:xfrm>
            <a:off x="3596400" y="1602000"/>
            <a:ext cx="1490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3625200" y="1630800"/>
            <a:ext cx="1432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1D-CNN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625200" y="1774800"/>
            <a:ext cx="1432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Neuronales Netz</a:t>
            </a:r>
          </a:p>
        </p:txBody>
      </p:sp>
      <p:sp>
        <p:nvSpPr>
          <p:cNvPr id="17" name="Metric"/>
          <p:cNvSpPr/>
          <p:nvPr/>
        </p:nvSpPr>
        <p:spPr>
          <a:xfrm>
            <a:off x="5151600" y="1602000"/>
            <a:ext cx="1490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5180400" y="1630800"/>
            <a:ext cx="1432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93,97 %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180400" y="1774800"/>
            <a:ext cx="1432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Test Accuracy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089C8C"/>
          </a:solidFill>
          <a:ln w="10000">
            <a:solidFill>
              <a:srgbClr val="089C8C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089C8C"/>
                </a:solidFill>
                <a:latin typeface="Aptos"/>
              </a:rPr>
              <a:t>KURZÜBERBLICK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Was wurde gebaut?</a:t>
            </a:r>
          </a:p>
        </p:txBody>
      </p:sp>
      <p:sp>
        <p:nvSpPr>
          <p:cNvPr id="6" name="Process"/>
          <p:cNvSpPr/>
          <p:nvPr/>
        </p:nvSpPr>
        <p:spPr>
          <a:xfrm>
            <a:off x="2952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384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Sensoren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492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Accelerometer + Gyroscope</a:t>
            </a:r>
          </a:p>
        </p:txBody>
      </p:sp>
      <p:sp>
        <p:nvSpPr>
          <p:cNvPr id="9" name="Arrow"/>
          <p:cNvSpPr/>
          <p:nvPr/>
        </p:nvSpPr>
        <p:spPr>
          <a:xfrm>
            <a:off x="1404000" y="702000"/>
            <a:ext cx="136800" cy="100800"/>
          </a:xfrm>
          <a:prstGeom prst="rightArrow">
            <a:avLst/>
          </a:prstGeom>
          <a:solidFill>
            <a:srgbClr val="089C8C"/>
          </a:solidFill>
          <a:ln>
            <a:noFill/>
          </a:ln>
        </p:spPr>
      </p:sp>
      <p:sp>
        <p:nvSpPr>
          <p:cNvPr id="10" name="Process"/>
          <p:cNvSpPr/>
          <p:nvPr/>
        </p:nvSpPr>
        <p:spPr>
          <a:xfrm>
            <a:off x="15984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6416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Ringbuffer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524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3 Sekunden Live-Fenster</a:t>
            </a:r>
          </a:p>
        </p:txBody>
      </p:sp>
      <p:sp>
        <p:nvSpPr>
          <p:cNvPr id="13" name="Arrow"/>
          <p:cNvSpPr/>
          <p:nvPr/>
        </p:nvSpPr>
        <p:spPr>
          <a:xfrm>
            <a:off x="2707200" y="702000"/>
            <a:ext cx="136800" cy="100800"/>
          </a:xfrm>
          <a:prstGeom prst="rightArrow">
            <a:avLst/>
          </a:prstGeom>
          <a:solidFill>
            <a:srgbClr val="089C8C"/>
          </a:solidFill>
          <a:ln>
            <a:noFill/>
          </a:ln>
        </p:spPr>
      </p:sp>
      <p:sp>
        <p:nvSpPr>
          <p:cNvPr id="14" name="Process"/>
          <p:cNvSpPr/>
          <p:nvPr/>
        </p:nvSpPr>
        <p:spPr>
          <a:xfrm>
            <a:off x="29016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29448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TFLite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9556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1D-CNN Inferenz</a:t>
            </a:r>
          </a:p>
        </p:txBody>
      </p:sp>
      <p:sp>
        <p:nvSpPr>
          <p:cNvPr id="17" name="Arrow"/>
          <p:cNvSpPr/>
          <p:nvPr/>
        </p:nvSpPr>
        <p:spPr>
          <a:xfrm>
            <a:off x="4010400" y="702000"/>
            <a:ext cx="136800" cy="100800"/>
          </a:xfrm>
          <a:prstGeom prst="rightArrow">
            <a:avLst/>
          </a:prstGeom>
          <a:solidFill>
            <a:srgbClr val="089C8C"/>
          </a:solidFill>
          <a:ln>
            <a:noFill/>
          </a:ln>
        </p:spPr>
      </p:sp>
      <p:sp>
        <p:nvSpPr>
          <p:cNvPr id="18" name="Process"/>
          <p:cNvSpPr/>
          <p:nvPr/>
        </p:nvSpPr>
        <p:spPr>
          <a:xfrm>
            <a:off x="42048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2480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Regeln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2588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Impact + Stillstand + Mehrfachfenster</a:t>
            </a:r>
          </a:p>
        </p:txBody>
      </p:sp>
      <p:sp>
        <p:nvSpPr>
          <p:cNvPr id="21" name="Arrow"/>
          <p:cNvSpPr/>
          <p:nvPr/>
        </p:nvSpPr>
        <p:spPr>
          <a:xfrm>
            <a:off x="5313600" y="702000"/>
            <a:ext cx="136800" cy="100800"/>
          </a:xfrm>
          <a:prstGeom prst="rightArrow">
            <a:avLst/>
          </a:prstGeom>
          <a:solidFill>
            <a:srgbClr val="089C8C"/>
          </a:solidFill>
          <a:ln>
            <a:noFill/>
          </a:ln>
        </p:spPr>
      </p:sp>
      <p:sp>
        <p:nvSpPr>
          <p:cNvPr id="22" name="Process"/>
          <p:cNvSpPr/>
          <p:nvPr/>
        </p:nvSpPr>
        <p:spPr>
          <a:xfrm>
            <a:off x="55080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5512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Alarm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5620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Warnung oder Countdown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360000" y="1216800"/>
            <a:ext cx="6120000" cy="8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Die App wertet Bewegungen direkt auf dem Smartphone aus.</a:t>
            </a:r>
          </a:p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Das neuronale Netz liefert Klassenwahrscheinlichkeiten, die App entscheidet danach mit Sicherheitsregeln.</a:t>
            </a:r>
          </a:p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Der Testmodus macht typische Alltagssituationen und Grenzfälle demonstrierbar.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D92D20"/>
          </a:solidFill>
          <a:ln w="10000">
            <a:solidFill>
              <a:srgbClr val="D92D20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D92D20"/>
                </a:solidFill>
                <a:latin typeface="Aptos"/>
              </a:rPr>
              <a:t>MOTIVATION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Projektziel</a:t>
            </a:r>
          </a:p>
        </p:txBody>
      </p:sp>
      <p:sp>
        <p:nvSpPr>
          <p:cNvPr id="6" name="Metric"/>
          <p:cNvSpPr/>
          <p:nvPr/>
        </p:nvSpPr>
        <p:spPr>
          <a:xfrm>
            <a:off x="2808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096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lokal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96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Inferenz</a:t>
            </a:r>
          </a:p>
        </p:txBody>
      </p:sp>
      <p:sp>
        <p:nvSpPr>
          <p:cNvPr id="9" name="Metric"/>
          <p:cNvSpPr/>
          <p:nvPr/>
        </p:nvSpPr>
        <p:spPr>
          <a:xfrm>
            <a:off x="24384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4672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4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4672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Klassen</a:t>
            </a:r>
          </a:p>
        </p:txBody>
      </p:sp>
      <p:sp>
        <p:nvSpPr>
          <p:cNvPr id="12" name="Metric"/>
          <p:cNvSpPr/>
          <p:nvPr/>
        </p:nvSpPr>
        <p:spPr>
          <a:xfrm>
            <a:off x="45960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248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30 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248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Countdown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324000" y="881999"/>
            <a:ext cx="6192000" cy="1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Stürze sollen automatisch erkannt werden, bevor Hilfe zu spät kommt.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Die Lösung soll lokal laufen, ohne Cloud-Abhängigkeit im Erkennungspfad.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Neben hoher Erkennung ist besonders die Reduktion von Fehlalarmen wichtig.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Deshalb unterscheidet das Modell nicht nur „Sturz“ und „kein Sturz“, sondern vier Bewegungsarten.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2457D6"/>
                </a:solidFill>
                <a:latin typeface="Aptos"/>
              </a:rPr>
              <a:t>ANDROID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App-Aufbau</a:t>
            </a:r>
          </a:p>
        </p:txBody>
      </p:sp>
      <p:sp>
        <p:nvSpPr>
          <p:cNvPr id="6" name="Left"/>
          <p:cNvSpPr/>
          <p:nvPr/>
        </p:nvSpPr>
        <p:spPr>
          <a:xfrm>
            <a:off x="306000" y="460800"/>
            <a:ext cx="3060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Bullets"/>
          <p:cNvSpPr txBox="1"/>
          <p:nvPr/>
        </p:nvSpPr>
        <p:spPr>
          <a:xfrm>
            <a:off x="413999" y="586799"/>
            <a:ext cx="2826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Native Android-App in Java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AppCompat + Material Components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MainActivity als zentrale Steuerung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TensorFlow Lite Runtime 2.16.1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Modell und metadata.json in app/src/main/assets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TFLite-Dateien werden nicht komprimiert</a:t>
            </a:r>
          </a:p>
        </p:txBody>
      </p:sp>
      <p:sp>
        <p:nvSpPr>
          <p:cNvPr id="8" name="Right"/>
          <p:cNvSpPr/>
          <p:nvPr/>
        </p:nvSpPr>
        <p:spPr>
          <a:xfrm>
            <a:off x="3510000" y="460800"/>
            <a:ext cx="3131999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9" name="Info"/>
          <p:cNvSpPr/>
          <p:nvPr/>
        </p:nvSpPr>
        <p:spPr>
          <a:xfrm>
            <a:off x="3643199" y="586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700800" y="608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UI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446000" y="608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Dashboard, Testmodus, Notfallkarte</a:t>
            </a:r>
          </a:p>
        </p:txBody>
      </p:sp>
      <p:sp>
        <p:nvSpPr>
          <p:cNvPr id="12" name="Info"/>
          <p:cNvSpPr/>
          <p:nvPr/>
        </p:nvSpPr>
        <p:spPr>
          <a:xfrm>
            <a:off x="3643199" y="910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700800" y="932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Sensorik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46000" y="932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SensorEventListener für Accel/Gyro</a:t>
            </a:r>
          </a:p>
        </p:txBody>
      </p:sp>
      <p:sp>
        <p:nvSpPr>
          <p:cNvPr id="15" name="Info"/>
          <p:cNvSpPr/>
          <p:nvPr/>
        </p:nvSpPr>
        <p:spPr>
          <a:xfrm>
            <a:off x="3643199" y="1234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3700800" y="1256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KI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446000" y="1256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Interpreter lädt .tflite</a:t>
            </a:r>
          </a:p>
        </p:txBody>
      </p:sp>
      <p:sp>
        <p:nvSpPr>
          <p:cNvPr id="18" name="Info"/>
          <p:cNvSpPr/>
          <p:nvPr/>
        </p:nvSpPr>
        <p:spPr>
          <a:xfrm>
            <a:off x="3643199" y="1558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700800" y="1580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Logik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446000" y="1580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processDetection + Countdown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12B76A"/>
                </a:solidFill>
                <a:latin typeface="Aptos"/>
              </a:rPr>
              <a:t>USER FLOW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Dashboard und Funktionen</a:t>
            </a:r>
          </a:p>
        </p:txBody>
      </p:sp>
      <p:sp>
        <p:nvSpPr>
          <p:cNvPr id="6" name="Card"/>
          <p:cNvSpPr/>
          <p:nvPr/>
        </p:nvSpPr>
        <p:spPr>
          <a:xfrm>
            <a:off x="306000" y="496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63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Start/Stop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63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Live-Überwachung aktivieren oder beenden</a:t>
            </a:r>
          </a:p>
        </p:txBody>
      </p:sp>
      <p:sp>
        <p:nvSpPr>
          <p:cNvPr id="9" name="Card"/>
          <p:cNvSpPr/>
          <p:nvPr/>
        </p:nvSpPr>
        <p:spPr>
          <a:xfrm>
            <a:off x="2448000" y="496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505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Status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505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Sensorquelle, Modellstatus, letzte Aktivität</a:t>
            </a:r>
          </a:p>
        </p:txBody>
      </p:sp>
      <p:sp>
        <p:nvSpPr>
          <p:cNvPr id="12" name="Card"/>
          <p:cNvSpPr/>
          <p:nvPr/>
        </p:nvSpPr>
        <p:spPr>
          <a:xfrm>
            <a:off x="4590000" y="496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47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Wahrscheinlichkeiten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47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4 Klassen als Prozentwerte</a:t>
            </a:r>
          </a:p>
        </p:txBody>
      </p:sp>
      <p:sp>
        <p:nvSpPr>
          <p:cNvPr id="15" name="Card"/>
          <p:cNvSpPr/>
          <p:nvPr/>
        </p:nvSpPr>
        <p:spPr>
          <a:xfrm>
            <a:off x="306000" y="1072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363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Testmodus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63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Simulationen für Grenzfälle</a:t>
            </a:r>
          </a:p>
        </p:txBody>
      </p:sp>
      <p:sp>
        <p:nvSpPr>
          <p:cNvPr id="18" name="Card"/>
          <p:cNvSpPr/>
          <p:nvPr/>
        </p:nvSpPr>
        <p:spPr>
          <a:xfrm>
            <a:off x="2448000" y="1072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2505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Notfall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505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Countdown abbrechen oder sofort Hilfe auslösen</a:t>
            </a:r>
          </a:p>
        </p:txBody>
      </p:sp>
      <p:sp>
        <p:nvSpPr>
          <p:cNvPr id="21" name="Card"/>
          <p:cNvSpPr/>
          <p:nvPr/>
        </p:nvSpPr>
        <p:spPr>
          <a:xfrm>
            <a:off x="4590000" y="1072800"/>
            <a:ext cx="2034000" cy="460800"/>
          </a:xfrm>
          <a:prstGeom prst="roundRect">
            <a:avLst/>
          </a:prstGeom>
          <a:solidFill>
            <a:srgbClr val="EAF8F0"/>
          </a:solidFill>
          <a:ln w="10000">
            <a:solidFill>
              <a:srgbClr val="D7DCE5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4647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12B76A"/>
                </a:solidFill>
                <a:latin typeface="Aptos"/>
              </a:rPr>
              <a:t>System-Log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647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Nachvollziehbare Ereignisse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089C8C"/>
          </a:solidFill>
          <a:ln w="10000">
            <a:solidFill>
              <a:srgbClr val="089C8C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089C8C"/>
                </a:solidFill>
                <a:latin typeface="Aptos"/>
              </a:rPr>
              <a:t>SENSORPIPELINE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Live-Datenfenster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514800"/>
            <a:ext cx="2664000" cy="1565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Eingang: ax, ay, az, gx, gy, gz.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150 Samples entsprechen 3,0 Sekunden bei 50 Hz.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Neue Samples werden in einen Ringbuffer geschrieben.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Inferenz alle 400 ms, sobald ein vollständiges Fenster vorhanden ist.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Android nutzt dieselben Mean/Std-Werte wie das Training.</a:t>
            </a:r>
          </a:p>
        </p:txBody>
      </p:sp>
      <p:sp>
        <p:nvSpPr>
          <p:cNvPr id="7" name="ChartBG"/>
          <p:cNvSpPr/>
          <p:nvPr/>
        </p:nvSpPr>
        <p:spPr>
          <a:xfrm>
            <a:off x="3150000" y="460800"/>
            <a:ext cx="3438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8" name="Grid"/>
          <p:cNvSpPr/>
          <p:nvPr/>
        </p:nvSpPr>
        <p:spPr>
          <a:xfrm>
            <a:off x="3312000" y="586799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9" name="Grid"/>
          <p:cNvSpPr/>
          <p:nvPr/>
        </p:nvSpPr>
        <p:spPr>
          <a:xfrm>
            <a:off x="3312000" y="901799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0" name="Grid"/>
          <p:cNvSpPr/>
          <p:nvPr/>
        </p:nvSpPr>
        <p:spPr>
          <a:xfrm>
            <a:off x="3312000" y="1216799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1" name="Grid"/>
          <p:cNvSpPr/>
          <p:nvPr/>
        </p:nvSpPr>
        <p:spPr>
          <a:xfrm>
            <a:off x="3312000" y="1531799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2" name="Bar"/>
          <p:cNvSpPr/>
          <p:nvPr/>
        </p:nvSpPr>
        <p:spPr>
          <a:xfrm>
            <a:off x="3312000" y="1374299"/>
            <a:ext cx="702900" cy="472500"/>
          </a:xfrm>
          <a:prstGeom prst="rect">
            <a:avLst/>
          </a:prstGeom>
          <a:solidFill>
            <a:srgbClr val="089C8C"/>
          </a:solidFill>
          <a:ln w="10000">
            <a:solidFill>
              <a:srgbClr val="089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312000" y="1251899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150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312000" y="1889999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Samples</a:t>
            </a:r>
          </a:p>
        </p:txBody>
      </p:sp>
      <p:sp>
        <p:nvSpPr>
          <p:cNvPr id="15" name="Bar"/>
          <p:cNvSpPr/>
          <p:nvPr/>
        </p:nvSpPr>
        <p:spPr>
          <a:xfrm>
            <a:off x="4115700" y="1827899"/>
            <a:ext cx="702900" cy="189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4115700" y="1705499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6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115700" y="1889999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Kanäle</a:t>
            </a:r>
          </a:p>
        </p:txBody>
      </p:sp>
      <p:sp>
        <p:nvSpPr>
          <p:cNvPr id="18" name="Bar"/>
          <p:cNvSpPr/>
          <p:nvPr/>
        </p:nvSpPr>
        <p:spPr>
          <a:xfrm>
            <a:off x="4919400" y="1837349"/>
            <a:ext cx="702900" cy="945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919400" y="1714949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919400" y="1889999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Sekunden</a:t>
            </a:r>
          </a:p>
        </p:txBody>
      </p:sp>
      <p:sp>
        <p:nvSpPr>
          <p:cNvPr id="21" name="Bar"/>
          <p:cNvSpPr/>
          <p:nvPr/>
        </p:nvSpPr>
        <p:spPr>
          <a:xfrm>
            <a:off x="5723100" y="586799"/>
            <a:ext cx="702900" cy="12600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5723100" y="464399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400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723100" y="1889999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ms Intervall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2457D6"/>
                </a:solidFill>
                <a:latin typeface="Aptos"/>
              </a:rPr>
              <a:t>REALDATA-PROJEKT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Datengrundlage</a:t>
            </a:r>
          </a:p>
        </p:txBody>
      </p:sp>
      <p:sp>
        <p:nvSpPr>
          <p:cNvPr id="6" name="Metric"/>
          <p:cNvSpPr/>
          <p:nvPr/>
        </p:nvSpPr>
        <p:spPr>
          <a:xfrm>
            <a:off x="2808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096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35.749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96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Fenster</a:t>
            </a:r>
          </a:p>
        </p:txBody>
      </p:sp>
      <p:sp>
        <p:nvSpPr>
          <p:cNvPr id="9" name="Metric"/>
          <p:cNvSpPr/>
          <p:nvPr/>
        </p:nvSpPr>
        <p:spPr>
          <a:xfrm>
            <a:off x="24384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4672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3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4672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Datensätze</a:t>
            </a:r>
          </a:p>
        </p:txBody>
      </p:sp>
      <p:sp>
        <p:nvSpPr>
          <p:cNvPr id="12" name="Metric"/>
          <p:cNvSpPr/>
          <p:nvPr/>
        </p:nvSpPr>
        <p:spPr>
          <a:xfrm>
            <a:off x="45960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248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2457D6"/>
                </a:solidFill>
                <a:latin typeface="Aptos"/>
              </a:rPr>
              <a:t>50 Hz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248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Zielrate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324000" y="881999"/>
            <a:ext cx="2664000" cy="1565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Öffentliche Datensätze: SisFall, UniMiB und UP-Fall.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Alle Daten werden auf ein gemeinsames Format gebracht: 150 x 6.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Balancing begrenzt große Klassen auf maximal 10.000 Fenster.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Finales Dataset: 35.749 Fenster.</a:t>
            </a:r>
          </a:p>
        </p:txBody>
      </p:sp>
      <p:sp>
        <p:nvSpPr>
          <p:cNvPr id="16" name="ChartBG"/>
          <p:cNvSpPr/>
          <p:nvPr/>
        </p:nvSpPr>
        <p:spPr>
          <a:xfrm>
            <a:off x="3150000" y="827999"/>
            <a:ext cx="3438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7" name="Grid"/>
          <p:cNvSpPr/>
          <p:nvPr/>
        </p:nvSpPr>
        <p:spPr>
          <a:xfrm>
            <a:off x="3312000" y="95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8" name="Grid"/>
          <p:cNvSpPr/>
          <p:nvPr/>
        </p:nvSpPr>
        <p:spPr>
          <a:xfrm>
            <a:off x="3312000" y="126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9" name="Grid"/>
          <p:cNvSpPr/>
          <p:nvPr/>
        </p:nvSpPr>
        <p:spPr>
          <a:xfrm>
            <a:off x="3312000" y="158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0" name="Grid"/>
          <p:cNvSpPr/>
          <p:nvPr/>
        </p:nvSpPr>
        <p:spPr>
          <a:xfrm>
            <a:off x="3312000" y="189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1" name="Bar"/>
          <p:cNvSpPr/>
          <p:nvPr/>
        </p:nvSpPr>
        <p:spPr>
          <a:xfrm>
            <a:off x="3312000" y="976741"/>
            <a:ext cx="970800" cy="1237257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3312000" y="854341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19.639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120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SisFall</a:t>
            </a:r>
          </a:p>
        </p:txBody>
      </p:sp>
      <p:sp>
        <p:nvSpPr>
          <p:cNvPr id="24" name="Bar"/>
          <p:cNvSpPr/>
          <p:nvPr/>
        </p:nvSpPr>
        <p:spPr>
          <a:xfrm>
            <a:off x="4383600" y="1707730"/>
            <a:ext cx="970800" cy="506268"/>
          </a:xfrm>
          <a:prstGeom prst="rect">
            <a:avLst/>
          </a:prstGeom>
          <a:solidFill>
            <a:srgbClr val="089C8C"/>
          </a:solidFill>
          <a:ln w="10000">
            <a:solidFill>
              <a:srgbClr val="089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4383600" y="1585330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8.036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3836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UniMiB</a:t>
            </a:r>
          </a:p>
        </p:txBody>
      </p:sp>
      <p:sp>
        <p:nvSpPr>
          <p:cNvPr id="27" name="Bar"/>
          <p:cNvSpPr/>
          <p:nvPr/>
        </p:nvSpPr>
        <p:spPr>
          <a:xfrm>
            <a:off x="5455200" y="1705336"/>
            <a:ext cx="970800" cy="508662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5455200" y="1582936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8.074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4552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UP-Fall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7A5AF8"/>
                </a:solidFill>
                <a:latin typeface="Aptos"/>
              </a:rPr>
              <a:t>NACH BALANCING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Klassenverteilung</a:t>
            </a:r>
          </a:p>
        </p:txBody>
      </p:sp>
      <p:sp>
        <p:nvSpPr>
          <p:cNvPr id="6" name="Metric"/>
          <p:cNvSpPr/>
          <p:nvPr/>
        </p:nvSpPr>
        <p:spPr>
          <a:xfrm>
            <a:off x="280800" y="450000"/>
            <a:ext cx="1553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09600" y="478800"/>
            <a:ext cx="1495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7A5AF8"/>
                </a:solidFill>
                <a:latin typeface="Aptos"/>
              </a:rPr>
              <a:t>5.749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9600" y="622800"/>
            <a:ext cx="1495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ruhiger Alltag</a:t>
            </a:r>
          </a:p>
        </p:txBody>
      </p:sp>
      <p:sp>
        <p:nvSpPr>
          <p:cNvPr id="9" name="Metric"/>
          <p:cNvSpPr/>
          <p:nvPr/>
        </p:nvSpPr>
        <p:spPr>
          <a:xfrm>
            <a:off x="1899000" y="450000"/>
            <a:ext cx="1553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927800" y="478800"/>
            <a:ext cx="1495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7A5AF8"/>
                </a:solidFill>
                <a:latin typeface="Aptos"/>
              </a:rPr>
              <a:t>10.000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927800" y="622800"/>
            <a:ext cx="1495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normale Bewegung</a:t>
            </a:r>
          </a:p>
        </p:txBody>
      </p:sp>
      <p:sp>
        <p:nvSpPr>
          <p:cNvPr id="12" name="Metric"/>
          <p:cNvSpPr/>
          <p:nvPr/>
        </p:nvSpPr>
        <p:spPr>
          <a:xfrm>
            <a:off x="3517200" y="450000"/>
            <a:ext cx="1553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546000" y="478800"/>
            <a:ext cx="1495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7A5AF8"/>
                </a:solidFill>
                <a:latin typeface="Aptos"/>
              </a:rPr>
              <a:t>10.000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546000" y="622800"/>
            <a:ext cx="1495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sturzähnlich OK</a:t>
            </a:r>
          </a:p>
        </p:txBody>
      </p:sp>
      <p:sp>
        <p:nvSpPr>
          <p:cNvPr id="15" name="Metric"/>
          <p:cNvSpPr/>
          <p:nvPr/>
        </p:nvSpPr>
        <p:spPr>
          <a:xfrm>
            <a:off x="5135400" y="450000"/>
            <a:ext cx="15534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5164200" y="478800"/>
            <a:ext cx="14958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7A5AF8"/>
                </a:solidFill>
                <a:latin typeface="Aptos"/>
              </a:rPr>
              <a:t>10.000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164200" y="622800"/>
            <a:ext cx="14958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Sturz</a:t>
            </a:r>
          </a:p>
        </p:txBody>
      </p:sp>
      <p:sp>
        <p:nvSpPr>
          <p:cNvPr id="18" name="Bullets"/>
          <p:cNvSpPr txBox="1"/>
          <p:nvPr/>
        </p:nvSpPr>
        <p:spPr>
          <a:xfrm>
            <a:off x="324000" y="881999"/>
            <a:ext cx="2664000" cy="1565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Klasse 0 ist kleiner, weil ruhiger Alltag nur aus UP-Fall kommt.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Klassen 1 bis 3 wurden auf je 10.000 Fenster begrenzt.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Die Klasse „sturzähnlich, aber OK“ ist zentral für weniger Fehlalarme.</a:t>
            </a:r>
          </a:p>
        </p:txBody>
      </p:sp>
      <p:sp>
        <p:nvSpPr>
          <p:cNvPr id="19" name="ChartBG"/>
          <p:cNvSpPr/>
          <p:nvPr/>
        </p:nvSpPr>
        <p:spPr>
          <a:xfrm>
            <a:off x="3150000" y="827999"/>
            <a:ext cx="3438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0" name="Grid"/>
          <p:cNvSpPr/>
          <p:nvPr/>
        </p:nvSpPr>
        <p:spPr>
          <a:xfrm>
            <a:off x="3312000" y="95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1" name="Grid"/>
          <p:cNvSpPr/>
          <p:nvPr/>
        </p:nvSpPr>
        <p:spPr>
          <a:xfrm>
            <a:off x="3312000" y="126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2" name="Grid"/>
          <p:cNvSpPr/>
          <p:nvPr/>
        </p:nvSpPr>
        <p:spPr>
          <a:xfrm>
            <a:off x="3312000" y="158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3" name="Grid"/>
          <p:cNvSpPr/>
          <p:nvPr/>
        </p:nvSpPr>
        <p:spPr>
          <a:xfrm>
            <a:off x="3312000" y="189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4" name="Bar"/>
          <p:cNvSpPr/>
          <p:nvPr/>
        </p:nvSpPr>
        <p:spPr>
          <a:xfrm>
            <a:off x="3312000" y="1489624"/>
            <a:ext cx="702900" cy="724374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3312000" y="1367224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5.749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312000" y="2257198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Ruhig</a:t>
            </a:r>
          </a:p>
        </p:txBody>
      </p:sp>
      <p:sp>
        <p:nvSpPr>
          <p:cNvPr id="27" name="Bar"/>
          <p:cNvSpPr/>
          <p:nvPr/>
        </p:nvSpPr>
        <p:spPr>
          <a:xfrm>
            <a:off x="4115700" y="953998"/>
            <a:ext cx="702900" cy="1260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4115700" y="831598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10.000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115700" y="2257198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Normal</a:t>
            </a:r>
          </a:p>
        </p:txBody>
      </p:sp>
      <p:sp>
        <p:nvSpPr>
          <p:cNvPr id="30" name="Bar"/>
          <p:cNvSpPr/>
          <p:nvPr/>
        </p:nvSpPr>
        <p:spPr>
          <a:xfrm>
            <a:off x="4919400" y="953998"/>
            <a:ext cx="702900" cy="12600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4919400" y="831598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10.000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919400" y="2257198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Sturzähnl. OK</a:t>
            </a:r>
          </a:p>
        </p:txBody>
      </p:sp>
      <p:sp>
        <p:nvSpPr>
          <p:cNvPr id="33" name="Bar"/>
          <p:cNvSpPr/>
          <p:nvPr/>
        </p:nvSpPr>
        <p:spPr>
          <a:xfrm>
            <a:off x="5723100" y="953998"/>
            <a:ext cx="702900" cy="1260000"/>
          </a:xfrm>
          <a:prstGeom prst="rect">
            <a:avLst/>
          </a:prstGeom>
          <a:solidFill>
            <a:srgbClr val="D92D20"/>
          </a:solidFill>
          <a:ln w="10000">
            <a:solidFill>
              <a:srgbClr val="D92D20"/>
            </a:solidFill>
          </a:ln>
        </p:spPr>
      </p:sp>
      <p:sp>
        <p:nvSpPr>
          <p:cNvPr id="34" name="Text"/>
          <p:cNvSpPr txBox="1"/>
          <p:nvPr/>
        </p:nvSpPr>
        <p:spPr>
          <a:xfrm>
            <a:off x="5723100" y="831598"/>
            <a:ext cx="7029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10.000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723100" y="2257198"/>
            <a:ext cx="7029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Sturz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F79009"/>
                </a:solidFill>
                <a:latin typeface="Aptos"/>
              </a:rPr>
              <a:t>SUBJECT SPLIT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Train / Validation / Test</a:t>
            </a:r>
          </a:p>
        </p:txBody>
      </p:sp>
      <p:sp>
        <p:nvSpPr>
          <p:cNvPr id="6" name="Metric"/>
          <p:cNvSpPr/>
          <p:nvPr/>
        </p:nvSpPr>
        <p:spPr>
          <a:xfrm>
            <a:off x="2808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096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F79009"/>
                </a:solidFill>
                <a:latin typeface="Aptos"/>
              </a:rPr>
              <a:t>25.435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96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Train</a:t>
            </a:r>
          </a:p>
        </p:txBody>
      </p:sp>
      <p:sp>
        <p:nvSpPr>
          <p:cNvPr id="9" name="Metric"/>
          <p:cNvSpPr/>
          <p:nvPr/>
        </p:nvSpPr>
        <p:spPr>
          <a:xfrm>
            <a:off x="24384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4672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F79009"/>
                </a:solidFill>
                <a:latin typeface="Aptos"/>
              </a:rPr>
              <a:t>5.652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4672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Validation</a:t>
            </a:r>
          </a:p>
        </p:txBody>
      </p:sp>
      <p:sp>
        <p:nvSpPr>
          <p:cNvPr id="12" name="Metric"/>
          <p:cNvSpPr/>
          <p:nvPr/>
        </p:nvSpPr>
        <p:spPr>
          <a:xfrm>
            <a:off x="45960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248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F79009"/>
                </a:solidFill>
                <a:latin typeface="Aptos"/>
              </a:rPr>
              <a:t>4.662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248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Test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324000" y="881999"/>
            <a:ext cx="2664000" cy="1565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Split erfolgt nach Personen, nicht nur zufällig nach Fenstern.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Dadurch werden identische Personen nicht gleichzeitig in Training und Test verwendet.</a:t>
            </a:r>
          </a:p>
          <a:p>
            <a:pPr marL="280000" indent="-160000" spcAft="90000">
              <a:buChar char="•"/>
            </a:pPr>
            <a:r>
              <a:rPr lang="de-DE" sz="1800" b="0" dirty="0">
                <a:solidFill>
                  <a:srgbClr val="111827"/>
                </a:solidFill>
                <a:latin typeface="Aptos"/>
              </a:rPr>
              <a:t>Das reduziert Leakage und macht die gemessene Leistung realistischer.</a:t>
            </a:r>
          </a:p>
        </p:txBody>
      </p:sp>
      <p:sp>
        <p:nvSpPr>
          <p:cNvPr id="16" name="ChartBG"/>
          <p:cNvSpPr/>
          <p:nvPr/>
        </p:nvSpPr>
        <p:spPr>
          <a:xfrm>
            <a:off x="3150000" y="827999"/>
            <a:ext cx="3438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7" name="Grid"/>
          <p:cNvSpPr/>
          <p:nvPr/>
        </p:nvSpPr>
        <p:spPr>
          <a:xfrm>
            <a:off x="3312000" y="95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8" name="Grid"/>
          <p:cNvSpPr/>
          <p:nvPr/>
        </p:nvSpPr>
        <p:spPr>
          <a:xfrm>
            <a:off x="3312000" y="126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19" name="Grid"/>
          <p:cNvSpPr/>
          <p:nvPr/>
        </p:nvSpPr>
        <p:spPr>
          <a:xfrm>
            <a:off x="3312000" y="1583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0" name="Grid"/>
          <p:cNvSpPr/>
          <p:nvPr/>
        </p:nvSpPr>
        <p:spPr>
          <a:xfrm>
            <a:off x="3312000" y="1898998"/>
            <a:ext cx="3114000" cy="8000"/>
          </a:xfrm>
          <a:prstGeom prst="rect">
            <a:avLst/>
          </a:prstGeom>
          <a:solidFill>
            <a:srgbClr val="D7DCE5"/>
          </a:solidFill>
          <a:ln w="10000">
            <a:solidFill>
              <a:srgbClr val="D7DCE5"/>
            </a:solidFill>
          </a:ln>
        </p:spPr>
      </p:sp>
      <p:sp>
        <p:nvSpPr>
          <p:cNvPr id="21" name="Bar"/>
          <p:cNvSpPr/>
          <p:nvPr/>
        </p:nvSpPr>
        <p:spPr>
          <a:xfrm>
            <a:off x="3312000" y="981379"/>
            <a:ext cx="970800" cy="1232619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3312000" y="858979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25.435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120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Train</a:t>
            </a:r>
          </a:p>
        </p:txBody>
      </p:sp>
      <p:sp>
        <p:nvSpPr>
          <p:cNvPr id="24" name="Bar"/>
          <p:cNvSpPr/>
          <p:nvPr/>
        </p:nvSpPr>
        <p:spPr>
          <a:xfrm>
            <a:off x="4383600" y="1940094"/>
            <a:ext cx="970800" cy="273904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4383600" y="1817694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5.652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3836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Validation</a:t>
            </a:r>
          </a:p>
        </p:txBody>
      </p:sp>
      <p:sp>
        <p:nvSpPr>
          <p:cNvPr id="27" name="Bar"/>
          <p:cNvSpPr/>
          <p:nvPr/>
        </p:nvSpPr>
        <p:spPr>
          <a:xfrm>
            <a:off x="5455200" y="1988071"/>
            <a:ext cx="970800" cy="225927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5455200" y="1865671"/>
            <a:ext cx="970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111827"/>
                </a:solidFill>
                <a:latin typeface="Aptos"/>
              </a:rPr>
              <a:t>4.662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455200" y="2257198"/>
            <a:ext cx="970800" cy="125999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Test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D92D20"/>
          </a:solidFill>
          <a:ln w="10000">
            <a:solidFill>
              <a:srgbClr val="D92D20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D92D20"/>
                </a:solidFill>
                <a:latin typeface="Aptos"/>
              </a:rPr>
              <a:t>1D-CNN ARCHITEKTUR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Neuronales Netz</a:t>
            </a:r>
          </a:p>
        </p:txBody>
      </p:sp>
      <p:sp>
        <p:nvSpPr>
          <p:cNvPr id="6" name="Metric"/>
          <p:cNvSpPr/>
          <p:nvPr/>
        </p:nvSpPr>
        <p:spPr>
          <a:xfrm>
            <a:off x="2808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096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112.516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096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Parameter</a:t>
            </a:r>
          </a:p>
        </p:txBody>
      </p:sp>
      <p:sp>
        <p:nvSpPr>
          <p:cNvPr id="9" name="Metric"/>
          <p:cNvSpPr/>
          <p:nvPr/>
        </p:nvSpPr>
        <p:spPr>
          <a:xfrm>
            <a:off x="24384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4672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111.620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4672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trainierbar</a:t>
            </a:r>
          </a:p>
        </p:txBody>
      </p:sp>
      <p:sp>
        <p:nvSpPr>
          <p:cNvPr id="12" name="Metric"/>
          <p:cNvSpPr/>
          <p:nvPr/>
        </p:nvSpPr>
        <p:spPr>
          <a:xfrm>
            <a:off x="4596000" y="450000"/>
            <a:ext cx="2092800" cy="3312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24800" y="478800"/>
            <a:ext cx="2035200" cy="129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700" b="1" dirty="0">
                <a:solidFill>
                  <a:srgbClr val="D92D20"/>
                </a:solidFill>
                <a:latin typeface="Aptos"/>
              </a:rPr>
              <a:t>4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24800" y="622800"/>
            <a:ext cx="2035200" cy="936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Ausgabeklassen</a:t>
            </a:r>
          </a:p>
        </p:txBody>
      </p:sp>
      <p:sp>
        <p:nvSpPr>
          <p:cNvPr id="15" name="Arch"/>
          <p:cNvSpPr/>
          <p:nvPr/>
        </p:nvSpPr>
        <p:spPr>
          <a:xfrm>
            <a:off x="270000" y="953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298800" y="1004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Input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98800" y="1151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150 x 6</a:t>
            </a:r>
          </a:p>
        </p:txBody>
      </p:sp>
      <p:sp>
        <p:nvSpPr>
          <p:cNvPr id="18" name="Arrow"/>
          <p:cNvSpPr/>
          <p:nvPr/>
        </p:nvSpPr>
        <p:spPr>
          <a:xfrm>
            <a:off x="1692000" y="1108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9" name="Arch"/>
          <p:cNvSpPr/>
          <p:nvPr/>
        </p:nvSpPr>
        <p:spPr>
          <a:xfrm>
            <a:off x="1908000" y="953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1936800" y="1004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Conv1D 32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936800" y="1151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BN + ReLU + Pool</a:t>
            </a:r>
          </a:p>
        </p:txBody>
      </p:sp>
      <p:sp>
        <p:nvSpPr>
          <p:cNvPr id="22" name="Arrow"/>
          <p:cNvSpPr/>
          <p:nvPr/>
        </p:nvSpPr>
        <p:spPr>
          <a:xfrm>
            <a:off x="3330000" y="1108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23" name="Arch"/>
          <p:cNvSpPr/>
          <p:nvPr/>
        </p:nvSpPr>
        <p:spPr>
          <a:xfrm>
            <a:off x="3546000" y="953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3574800" y="1004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Conv1D 64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574800" y="1151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BN + ReLU + Pool</a:t>
            </a:r>
          </a:p>
        </p:txBody>
      </p:sp>
      <p:sp>
        <p:nvSpPr>
          <p:cNvPr id="26" name="Arrow"/>
          <p:cNvSpPr/>
          <p:nvPr/>
        </p:nvSpPr>
        <p:spPr>
          <a:xfrm>
            <a:off x="4968000" y="1108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27" name="Arch"/>
          <p:cNvSpPr/>
          <p:nvPr/>
        </p:nvSpPr>
        <p:spPr>
          <a:xfrm>
            <a:off x="5184000" y="953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8" name="Text"/>
          <p:cNvSpPr txBox="1"/>
          <p:nvPr/>
        </p:nvSpPr>
        <p:spPr>
          <a:xfrm>
            <a:off x="5212800" y="1004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Conv1D 128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212800" y="1151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BN + ReLU + Pool</a:t>
            </a:r>
          </a:p>
        </p:txBody>
      </p:sp>
      <p:sp>
        <p:nvSpPr>
          <p:cNvPr id="30" name="Arch"/>
          <p:cNvSpPr/>
          <p:nvPr/>
        </p:nvSpPr>
        <p:spPr>
          <a:xfrm>
            <a:off x="270000" y="1601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298800" y="1652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Conv1D 128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98800" y="1799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BN + ReLU</a:t>
            </a:r>
          </a:p>
        </p:txBody>
      </p:sp>
      <p:sp>
        <p:nvSpPr>
          <p:cNvPr id="33" name="Arrow"/>
          <p:cNvSpPr/>
          <p:nvPr/>
        </p:nvSpPr>
        <p:spPr>
          <a:xfrm>
            <a:off x="1692000" y="1756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34" name="Arch"/>
          <p:cNvSpPr/>
          <p:nvPr/>
        </p:nvSpPr>
        <p:spPr>
          <a:xfrm>
            <a:off x="1908000" y="1601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1936800" y="1652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Avg/Max Pool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936800" y="1799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Feature-Fusion</a:t>
            </a:r>
          </a:p>
        </p:txBody>
      </p:sp>
      <p:sp>
        <p:nvSpPr>
          <p:cNvPr id="37" name="Arrow"/>
          <p:cNvSpPr/>
          <p:nvPr/>
        </p:nvSpPr>
        <p:spPr>
          <a:xfrm>
            <a:off x="3330000" y="1756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38" name="Arch"/>
          <p:cNvSpPr/>
          <p:nvPr/>
        </p:nvSpPr>
        <p:spPr>
          <a:xfrm>
            <a:off x="3546000" y="1601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3574800" y="1652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Dense 96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3574800" y="1799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Dropout</a:t>
            </a:r>
          </a:p>
        </p:txBody>
      </p:sp>
      <p:sp>
        <p:nvSpPr>
          <p:cNvPr id="41" name="Arrow"/>
          <p:cNvSpPr/>
          <p:nvPr/>
        </p:nvSpPr>
        <p:spPr>
          <a:xfrm>
            <a:off x="4968000" y="1756798"/>
            <a:ext cx="1224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42" name="Arch"/>
          <p:cNvSpPr/>
          <p:nvPr/>
        </p:nvSpPr>
        <p:spPr>
          <a:xfrm>
            <a:off x="5184000" y="1601998"/>
            <a:ext cx="1404000" cy="4248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5212800" y="1652398"/>
            <a:ext cx="13392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00" b="1" dirty="0">
                <a:solidFill>
                  <a:srgbClr val="D92D20"/>
                </a:solidFill>
                <a:latin typeface="Aptos"/>
              </a:rPr>
              <a:t>Softmax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212800" y="1799998"/>
            <a:ext cx="1339200" cy="115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30" b="0" dirty="0">
                <a:solidFill>
                  <a:srgbClr val="667085"/>
                </a:solidFill>
                <a:latin typeface="Aptos"/>
              </a:rPr>
              <a:t>4 Klassen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D92D20"/>
          </a:solidFill>
          <a:ln w="10000">
            <a:solidFill>
              <a:srgbClr val="D92D20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D92D20"/>
                </a:solidFill>
                <a:latin typeface="Aptos"/>
              </a:rPr>
              <a:t>MODELLENTSCHEIDUNG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Warum 1D-CNN?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514800"/>
            <a:ext cx="6192000" cy="1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Sensorwerte sind Zeitreihen: Muster entstehen über mehrere aufeinanderfolgende Samples.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Conv1D-Filter erkennen lokale Bewegungsmuster wie Impact, Rotation und Stillstand.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Pooling macht die Erkennung robuster gegen kleine zeitliche Verschiebungen.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Dropout und Augmentation reduzieren Overfitting.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Das Modell bleibt klein genug für lokale Smartphone-Inferenz.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2457D6"/>
                </a:solidFill>
                <a:latin typeface="Aptos"/>
              </a:rPr>
              <a:t>SETUP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Training</a:t>
            </a:r>
          </a:p>
        </p:txBody>
      </p:sp>
      <p:sp>
        <p:nvSpPr>
          <p:cNvPr id="6" name="Left"/>
          <p:cNvSpPr/>
          <p:nvPr/>
        </p:nvSpPr>
        <p:spPr>
          <a:xfrm>
            <a:off x="306000" y="460800"/>
            <a:ext cx="3060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Bullets"/>
          <p:cNvSpPr txBox="1"/>
          <p:nvPr/>
        </p:nvSpPr>
        <p:spPr>
          <a:xfrm>
            <a:off x="413999" y="586799"/>
            <a:ext cx="2826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TensorFlow 2.21.0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60 Epochen geplant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Batch Size 128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Learning Rate 1e-3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Class Weights gegen Ungleichgewicht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Augmentation nur im Training</a:t>
            </a:r>
          </a:p>
        </p:txBody>
      </p:sp>
      <p:sp>
        <p:nvSpPr>
          <p:cNvPr id="8" name="Right"/>
          <p:cNvSpPr/>
          <p:nvPr/>
        </p:nvSpPr>
        <p:spPr>
          <a:xfrm>
            <a:off x="3510000" y="460800"/>
            <a:ext cx="3131999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9" name="Info"/>
          <p:cNvSpPr/>
          <p:nvPr/>
        </p:nvSpPr>
        <p:spPr>
          <a:xfrm>
            <a:off x="3643199" y="586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3700800" y="608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Rauschen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446000" y="608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NOISE_STD = 0.035</a:t>
            </a:r>
          </a:p>
        </p:txBody>
      </p:sp>
      <p:sp>
        <p:nvSpPr>
          <p:cNvPr id="12" name="Info"/>
          <p:cNvSpPr/>
          <p:nvPr/>
        </p:nvSpPr>
        <p:spPr>
          <a:xfrm>
            <a:off x="3643199" y="910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700800" y="932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Skalierung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46000" y="932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0,92 bis 1,08</a:t>
            </a:r>
          </a:p>
        </p:txBody>
      </p:sp>
      <p:sp>
        <p:nvSpPr>
          <p:cNvPr id="15" name="Info"/>
          <p:cNvSpPr/>
          <p:nvPr/>
        </p:nvSpPr>
        <p:spPr>
          <a:xfrm>
            <a:off x="3643199" y="1234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3700800" y="1256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Gyro-Dropout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446000" y="1256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30 %</a:t>
            </a:r>
          </a:p>
        </p:txBody>
      </p:sp>
      <p:sp>
        <p:nvSpPr>
          <p:cNvPr id="18" name="Info"/>
          <p:cNvSpPr/>
          <p:nvPr/>
        </p:nvSpPr>
        <p:spPr>
          <a:xfrm>
            <a:off x="3643199" y="1558799"/>
            <a:ext cx="2844000" cy="259200"/>
          </a:xfrm>
          <a:prstGeom prst="roundRect">
            <a:avLst/>
          </a:prstGeom>
          <a:solidFill>
            <a:srgbClr val="EAF1FF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700800" y="1580399"/>
            <a:ext cx="827999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150" b="1" dirty="0">
                <a:solidFill>
                  <a:srgbClr val="2457D6"/>
                </a:solidFill>
                <a:latin typeface="Aptos"/>
              </a:rPr>
              <a:t>Time Shift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446000" y="1580399"/>
            <a:ext cx="1944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±10 Samples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2457D6"/>
                </a:solidFill>
                <a:latin typeface="Aptos"/>
              </a:rPr>
              <a:t>ACCURACY UND LOSS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Trainingsverlauf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478800"/>
            <a:ext cx="2160000" cy="16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Die Accuracy steigt im Verlauf deutlich an.</a:t>
            </a:r>
          </a:p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Der Loss sinkt und stabilisiert sich.</a:t>
            </a:r>
          </a:p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Die Kurven dienen als Plausibilitätscheck gegen Underfitting und Overfitting.</a:t>
            </a:r>
          </a:p>
        </p:txBody>
      </p:sp>
      <p:pic>
        <p:nvPicPr>
          <p:cNvPr id="7" name="accuracy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2574000" y="460800"/>
            <a:ext cx="1998000" cy="1530000"/>
          </a:xfrm>
          <a:prstGeom prst="rect">
            <a:avLst/>
          </a:prstGeom>
          <a:ln w="10000">
            <a:solidFill>
              <a:srgbClr val="D7DCE5"/>
            </a:solidFill>
          </a:ln>
        </p:spPr>
      </p:pic>
      <p:pic>
        <p:nvPicPr>
          <p:cNvPr id="8" name="loss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2000" y="460800"/>
            <a:ext cx="1998000" cy="1530000"/>
          </a:xfrm>
          <a:prstGeom prst="rect">
            <a:avLst/>
          </a:prstGeom>
          <a:ln w="10000">
            <a:solidFill>
              <a:srgbClr val="D7DCE5"/>
            </a:solidFill>
          </a:ln>
        </p:spPr>
      </p:pic>
      <p:sp>
        <p:nvSpPr>
          <p:cNvPr id="9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12B76A"/>
                </a:solidFill>
                <a:latin typeface="Aptos"/>
              </a:rPr>
              <a:t>GESAMTLEISTUNG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Testergebnisse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496800"/>
            <a:ext cx="2520000" cy="1565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Test Loss: 0,2292.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Test Accuracy: 93,97 %.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Besonders starke Leistung bei der Klasse Sturz.</a:t>
            </a:r>
          </a:p>
          <a:p>
            <a:pPr marL="280000" indent="-160000" spcAft="90000">
              <a:buChar char="•"/>
            </a:pPr>
            <a:r>
              <a:rPr lang="de-DE" sz="1850" b="0" dirty="0">
                <a:solidFill>
                  <a:srgbClr val="111827"/>
                </a:solidFill>
                <a:latin typeface="Aptos"/>
              </a:rPr>
              <a:t>Die verbleibenden Fehler liegen häufig zwischen Sturz und sturzähnlicher Bewegung.</a:t>
            </a:r>
          </a:p>
        </p:txBody>
      </p:sp>
      <p:sp>
        <p:nvSpPr>
          <p:cNvPr id="7" name="MetricBig"/>
          <p:cNvSpPr/>
          <p:nvPr/>
        </p:nvSpPr>
        <p:spPr>
          <a:xfrm>
            <a:off x="3024000" y="550800"/>
            <a:ext cx="1530000" cy="55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3060000" y="615600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2100" b="1" dirty="0">
                <a:solidFill>
                  <a:srgbClr val="2457D6"/>
                </a:solidFill>
                <a:latin typeface="Aptos"/>
              </a:rPr>
              <a:t>94,0 %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060000" y="831600"/>
            <a:ext cx="1458000" cy="118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Accuracy</a:t>
            </a:r>
          </a:p>
        </p:txBody>
      </p:sp>
      <p:sp>
        <p:nvSpPr>
          <p:cNvPr id="10" name="MetricBig"/>
          <p:cNvSpPr/>
          <p:nvPr/>
        </p:nvSpPr>
        <p:spPr>
          <a:xfrm>
            <a:off x="4788000" y="550800"/>
            <a:ext cx="1530000" cy="55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4824000" y="615600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2100" b="1" dirty="0">
                <a:solidFill>
                  <a:srgbClr val="12B76A"/>
                </a:solidFill>
                <a:latin typeface="Aptos"/>
              </a:rPr>
              <a:t>99,3 %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824000" y="831600"/>
            <a:ext cx="1458000" cy="118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Sturz Precision</a:t>
            </a:r>
          </a:p>
        </p:txBody>
      </p:sp>
      <p:sp>
        <p:nvSpPr>
          <p:cNvPr id="13" name="MetricBig"/>
          <p:cNvSpPr/>
          <p:nvPr/>
        </p:nvSpPr>
        <p:spPr>
          <a:xfrm>
            <a:off x="3024000" y="1270800"/>
            <a:ext cx="1530000" cy="55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3060000" y="1335600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2100" b="1" dirty="0">
                <a:solidFill>
                  <a:srgbClr val="F79009"/>
                </a:solidFill>
                <a:latin typeface="Aptos"/>
              </a:rPr>
              <a:t>95,7 %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060000" y="1551600"/>
            <a:ext cx="1458000" cy="118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Sturz Recall</a:t>
            </a:r>
          </a:p>
        </p:txBody>
      </p:sp>
      <p:sp>
        <p:nvSpPr>
          <p:cNvPr id="16" name="MetricBig"/>
          <p:cNvSpPr/>
          <p:nvPr/>
        </p:nvSpPr>
        <p:spPr>
          <a:xfrm>
            <a:off x="4788000" y="1270800"/>
            <a:ext cx="1530000" cy="55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4824000" y="1335600"/>
            <a:ext cx="14580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2100" b="1" dirty="0">
                <a:solidFill>
                  <a:srgbClr val="D92D20"/>
                </a:solidFill>
                <a:latin typeface="Aptos"/>
              </a:rPr>
              <a:t>97,5 %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824000" y="1551600"/>
            <a:ext cx="1458000" cy="118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0" dirty="0">
                <a:solidFill>
                  <a:srgbClr val="667085"/>
                </a:solidFill>
                <a:latin typeface="Aptos"/>
              </a:rPr>
              <a:t>Sturz F1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12B76A"/>
                </a:solidFill>
                <a:latin typeface="Aptos"/>
              </a:rPr>
              <a:t>PRECISION / RECALL / F1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Klassenmetriken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514800"/>
            <a:ext cx="2052000" cy="151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700" b="0" dirty="0">
                <a:solidFill>
                  <a:srgbClr val="111827"/>
                </a:solidFill>
                <a:latin typeface="Aptos"/>
              </a:rPr>
              <a:t>Sturz: sehr hohe Precision und hoher Recall.</a:t>
            </a:r>
          </a:p>
          <a:p>
            <a:pPr marL="280000" indent="-160000" spcAft="90000">
              <a:buChar char="•"/>
            </a:pPr>
            <a:r>
              <a:rPr lang="de-DE" sz="1700" b="0" dirty="0">
                <a:solidFill>
                  <a:srgbClr val="111827"/>
                </a:solidFill>
                <a:latin typeface="Aptos"/>
              </a:rPr>
              <a:t>Ruhiger Alltag: sehr hoher Recall, geringere Precision.</a:t>
            </a:r>
          </a:p>
          <a:p>
            <a:pPr marL="280000" indent="-160000" spcAft="90000">
              <a:buChar char="•"/>
            </a:pPr>
            <a:r>
              <a:rPr lang="de-DE" sz="1700" b="0" dirty="0">
                <a:solidFill>
                  <a:srgbClr val="111827"/>
                </a:solidFill>
                <a:latin typeface="Aptos"/>
              </a:rPr>
              <a:t>Klasse 2 hilft, sturzähnliche Bewegungen separat zu behandeln.</a:t>
            </a:r>
          </a:p>
        </p:txBody>
      </p:sp>
      <p:sp>
        <p:nvSpPr>
          <p:cNvPr id="7" name="GroupedChart"/>
          <p:cNvSpPr/>
          <p:nvPr/>
        </p:nvSpPr>
        <p:spPr>
          <a:xfrm>
            <a:off x="2502000" y="460800"/>
            <a:ext cx="4086000" cy="163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8" name="MetricBar"/>
          <p:cNvSpPr/>
          <p:nvPr/>
        </p:nvSpPr>
        <p:spPr>
          <a:xfrm>
            <a:off x="2853750" y="895753"/>
            <a:ext cx="142950" cy="951048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9" name="MetricBar"/>
          <p:cNvSpPr/>
          <p:nvPr/>
        </p:nvSpPr>
        <p:spPr>
          <a:xfrm>
            <a:off x="3007500" y="631369"/>
            <a:ext cx="142950" cy="1215432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10" name="MetricBar"/>
          <p:cNvSpPr/>
          <p:nvPr/>
        </p:nvSpPr>
        <p:spPr>
          <a:xfrm>
            <a:off x="3161250" y="779473"/>
            <a:ext cx="142950" cy="1067328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2700000" y="1882801"/>
            <a:ext cx="9225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Ruhig</a:t>
            </a:r>
          </a:p>
        </p:txBody>
      </p:sp>
      <p:sp>
        <p:nvSpPr>
          <p:cNvPr id="12" name="MetricBar"/>
          <p:cNvSpPr/>
          <p:nvPr/>
        </p:nvSpPr>
        <p:spPr>
          <a:xfrm>
            <a:off x="3776250" y="658297"/>
            <a:ext cx="142950" cy="1188504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13" name="MetricBar"/>
          <p:cNvSpPr/>
          <p:nvPr/>
        </p:nvSpPr>
        <p:spPr>
          <a:xfrm>
            <a:off x="3930000" y="731737"/>
            <a:ext cx="142950" cy="1115064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14" name="MetricBar"/>
          <p:cNvSpPr/>
          <p:nvPr/>
        </p:nvSpPr>
        <p:spPr>
          <a:xfrm>
            <a:off x="4083750" y="696241"/>
            <a:ext cx="142950" cy="115056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3622500" y="1882801"/>
            <a:ext cx="9225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Normal</a:t>
            </a:r>
          </a:p>
        </p:txBody>
      </p:sp>
      <p:sp>
        <p:nvSpPr>
          <p:cNvPr id="16" name="MetricBar"/>
          <p:cNvSpPr/>
          <p:nvPr/>
        </p:nvSpPr>
        <p:spPr>
          <a:xfrm>
            <a:off x="4698750" y="660745"/>
            <a:ext cx="142950" cy="1186056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17" name="MetricBar"/>
          <p:cNvSpPr/>
          <p:nvPr/>
        </p:nvSpPr>
        <p:spPr>
          <a:xfrm>
            <a:off x="4852500" y="715825"/>
            <a:ext cx="142950" cy="1130976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18" name="MetricBar"/>
          <p:cNvSpPr/>
          <p:nvPr/>
        </p:nvSpPr>
        <p:spPr>
          <a:xfrm>
            <a:off x="5006250" y="688897"/>
            <a:ext cx="142950" cy="1157904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545000" y="1882801"/>
            <a:ext cx="9225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Sturzähnl.</a:t>
            </a:r>
          </a:p>
        </p:txBody>
      </p:sp>
      <p:sp>
        <p:nvSpPr>
          <p:cNvPr id="20" name="MetricBar"/>
          <p:cNvSpPr/>
          <p:nvPr/>
        </p:nvSpPr>
        <p:spPr>
          <a:xfrm>
            <a:off x="5621250" y="631369"/>
            <a:ext cx="142950" cy="1215432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21" name="MetricBar"/>
          <p:cNvSpPr/>
          <p:nvPr/>
        </p:nvSpPr>
        <p:spPr>
          <a:xfrm>
            <a:off x="5775000" y="675433"/>
            <a:ext cx="142950" cy="1171368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22" name="MetricBar"/>
          <p:cNvSpPr/>
          <p:nvPr/>
        </p:nvSpPr>
        <p:spPr>
          <a:xfrm>
            <a:off x="5928750" y="653401"/>
            <a:ext cx="142950" cy="119340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467500" y="1882801"/>
            <a:ext cx="9225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Sturz</a:t>
            </a:r>
          </a:p>
        </p:txBody>
      </p:sp>
      <p:sp>
        <p:nvSpPr>
          <p:cNvPr id="24" name="Legend"/>
          <p:cNvSpPr/>
          <p:nvPr/>
        </p:nvSpPr>
        <p:spPr>
          <a:xfrm>
            <a:off x="2700000" y="1972801"/>
            <a:ext cx="57600" cy="576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2764800" y="1951201"/>
            <a:ext cx="432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Precision</a:t>
            </a:r>
          </a:p>
        </p:txBody>
      </p:sp>
      <p:sp>
        <p:nvSpPr>
          <p:cNvPr id="26" name="Legend"/>
          <p:cNvSpPr/>
          <p:nvPr/>
        </p:nvSpPr>
        <p:spPr>
          <a:xfrm>
            <a:off x="3258000" y="1972801"/>
            <a:ext cx="57600" cy="576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3322800" y="1951201"/>
            <a:ext cx="432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Recall</a:t>
            </a:r>
          </a:p>
        </p:txBody>
      </p:sp>
      <p:sp>
        <p:nvSpPr>
          <p:cNvPr id="28" name="Legend"/>
          <p:cNvSpPr/>
          <p:nvPr/>
        </p:nvSpPr>
        <p:spPr>
          <a:xfrm>
            <a:off x="3816000" y="1972801"/>
            <a:ext cx="57600" cy="57600"/>
          </a:xfrm>
          <a:prstGeom prst="rect">
            <a:avLst/>
          </a:prstGeom>
          <a:solidFill>
            <a:srgbClr val="12B76A"/>
          </a:solidFill>
          <a:ln w="10000">
            <a:solidFill>
              <a:srgbClr val="12B76A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3880800" y="1951201"/>
            <a:ext cx="432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F1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F79009"/>
                </a:solidFill>
                <a:latin typeface="Aptos"/>
              </a:rPr>
              <a:t>TESTSPLIT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Konfusionsmatrix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514800"/>
            <a:ext cx="2124000" cy="15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1.194 von 1.247 Stürzen wurden korrekt erkannt.</a:t>
            </a:r>
          </a:p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Hauptverwechslung: Sturz vs. sturzähnlich aber OK.</a:t>
            </a:r>
          </a:p>
          <a:p>
            <a:pPr marL="280000" indent="-160000" spcAft="90000">
              <a:buChar char="•"/>
            </a:pPr>
            <a:r>
              <a:rPr lang="de-DE" sz="1750" b="0" dirty="0">
                <a:solidFill>
                  <a:srgbClr val="111827"/>
                </a:solidFill>
                <a:latin typeface="Aptos"/>
              </a:rPr>
              <a:t>Diese Beobachtung begründet die zusätzliche Sicherheitslogik in der App.</a:t>
            </a:r>
          </a:p>
        </p:txBody>
      </p:sp>
      <p:pic>
        <p:nvPicPr>
          <p:cNvPr id="7" name="c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2556000" y="460800"/>
            <a:ext cx="3996000" cy="1674000"/>
          </a:xfrm>
          <a:prstGeom prst="rect">
            <a:avLst/>
          </a:prstGeom>
          <a:ln w="10000">
            <a:solidFill>
              <a:srgbClr val="D7DCE5"/>
            </a:solidFill>
          </a:ln>
        </p:spPr>
      </p:pic>
      <p:sp>
        <p:nvSpPr>
          <p:cNvPr id="8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D92D20"/>
          </a:solidFill>
          <a:ln w="10000">
            <a:solidFill>
              <a:srgbClr val="D92D20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D92D20"/>
                </a:solidFill>
                <a:latin typeface="Aptos"/>
              </a:rPr>
              <a:t>KI PLUS SICHERHEITSREGELN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Entscheidungslogik</a:t>
            </a:r>
          </a:p>
        </p:txBody>
      </p:sp>
      <p:sp>
        <p:nvSpPr>
          <p:cNvPr id="6" name="Decision"/>
          <p:cNvSpPr/>
          <p:nvPr/>
        </p:nvSpPr>
        <p:spPr>
          <a:xfrm>
            <a:off x="288000" y="496800"/>
            <a:ext cx="1098000" cy="46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24000" y="547200"/>
            <a:ext cx="1026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D92D20"/>
                </a:solidFill>
                <a:latin typeface="Aptos"/>
              </a:rPr>
              <a:t>KI sagt Klasse 3?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31200" y="691200"/>
            <a:ext cx="1007999" cy="172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00" b="0" dirty="0">
                <a:solidFill>
                  <a:srgbClr val="667085"/>
                </a:solidFill>
                <a:latin typeface="Aptos"/>
              </a:rPr>
              <a:t>Sturz-Wahrscheinlichkeit &gt; 90 %</a:t>
            </a:r>
          </a:p>
        </p:txBody>
      </p:sp>
      <p:sp>
        <p:nvSpPr>
          <p:cNvPr id="9" name="Arrow"/>
          <p:cNvSpPr/>
          <p:nvPr/>
        </p:nvSpPr>
        <p:spPr>
          <a:xfrm>
            <a:off x="1404000" y="666000"/>
            <a:ext cx="1008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0" name="Decision"/>
          <p:cNvSpPr/>
          <p:nvPr/>
        </p:nvSpPr>
        <p:spPr>
          <a:xfrm>
            <a:off x="1566000" y="496800"/>
            <a:ext cx="1098000" cy="46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602000" y="547200"/>
            <a:ext cx="1026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D92D20"/>
                </a:solidFill>
                <a:latin typeface="Aptos"/>
              </a:rPr>
              <a:t>Impact stark genug?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09200" y="691200"/>
            <a:ext cx="1007999" cy="172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00" b="0" dirty="0">
                <a:solidFill>
                  <a:srgbClr val="667085"/>
                </a:solidFill>
                <a:latin typeface="Aptos"/>
              </a:rPr>
              <a:t>max. Beschleunigung &gt; 28 m/s²</a:t>
            </a:r>
          </a:p>
        </p:txBody>
      </p:sp>
      <p:sp>
        <p:nvSpPr>
          <p:cNvPr id="13" name="Arrow"/>
          <p:cNvSpPr/>
          <p:nvPr/>
        </p:nvSpPr>
        <p:spPr>
          <a:xfrm>
            <a:off x="2682000" y="666000"/>
            <a:ext cx="1008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4" name="Decision"/>
          <p:cNvSpPr/>
          <p:nvPr/>
        </p:nvSpPr>
        <p:spPr>
          <a:xfrm>
            <a:off x="2844000" y="496800"/>
            <a:ext cx="1098000" cy="46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2880000" y="547200"/>
            <a:ext cx="1026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D92D20"/>
                </a:solidFill>
                <a:latin typeface="Aptos"/>
              </a:rPr>
              <a:t>Danach wenig Bewegung?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887200" y="691200"/>
            <a:ext cx="1007999" cy="172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00" b="0" dirty="0">
                <a:solidFill>
                  <a:srgbClr val="667085"/>
                </a:solidFill>
                <a:latin typeface="Aptos"/>
              </a:rPr>
              <a:t>Nachbewegung &lt; 1,8</a:t>
            </a:r>
          </a:p>
        </p:txBody>
      </p:sp>
      <p:sp>
        <p:nvSpPr>
          <p:cNvPr id="17" name="Arrow"/>
          <p:cNvSpPr/>
          <p:nvPr/>
        </p:nvSpPr>
        <p:spPr>
          <a:xfrm>
            <a:off x="3960000" y="666000"/>
            <a:ext cx="1008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8" name="Decision"/>
          <p:cNvSpPr/>
          <p:nvPr/>
        </p:nvSpPr>
        <p:spPr>
          <a:xfrm>
            <a:off x="4122000" y="496800"/>
            <a:ext cx="1098000" cy="46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158000" y="547200"/>
            <a:ext cx="1026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D92D20"/>
                </a:solidFill>
                <a:latin typeface="Aptos"/>
              </a:rPr>
              <a:t>Bestätigung?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165200" y="691200"/>
            <a:ext cx="1007999" cy="172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00" b="0" dirty="0">
                <a:solidFill>
                  <a:srgbClr val="667085"/>
                </a:solidFill>
                <a:latin typeface="Aptos"/>
              </a:rPr>
              <a:t>mindestens 2 Fenster</a:t>
            </a:r>
          </a:p>
        </p:txBody>
      </p:sp>
      <p:sp>
        <p:nvSpPr>
          <p:cNvPr id="21" name="Arrow"/>
          <p:cNvSpPr/>
          <p:nvPr/>
        </p:nvSpPr>
        <p:spPr>
          <a:xfrm>
            <a:off x="5238000" y="666000"/>
            <a:ext cx="100800" cy="90000"/>
          </a:xfrm>
          <a:prstGeom prst="rightArrow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22" name="Decision"/>
          <p:cNvSpPr/>
          <p:nvPr/>
        </p:nvSpPr>
        <p:spPr>
          <a:xfrm>
            <a:off x="5400000" y="496800"/>
            <a:ext cx="1098000" cy="468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436000" y="547200"/>
            <a:ext cx="1026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050" b="1" dirty="0">
                <a:solidFill>
                  <a:srgbClr val="D92D20"/>
                </a:solidFill>
                <a:latin typeface="Aptos"/>
              </a:rPr>
              <a:t>Aktion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443200" y="691200"/>
            <a:ext cx="1007999" cy="172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00" b="0" dirty="0">
                <a:solidFill>
                  <a:srgbClr val="667085"/>
                </a:solidFill>
                <a:latin typeface="Aptos"/>
              </a:rPr>
              <a:t>Sturz erkannt + Countdown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360000" y="1198799"/>
            <a:ext cx="6156000" cy="8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900" b="0" dirty="0">
                <a:solidFill>
                  <a:srgbClr val="111827"/>
                </a:solidFill>
                <a:latin typeface="Aptos"/>
              </a:rPr>
              <a:t>Ein Alarm wird nicht nur aus der höchsten Modellklasse ausgelöst.</a:t>
            </a:r>
          </a:p>
          <a:p>
            <a:pPr marL="280000" indent="-160000" spcAft="90000">
              <a:buChar char="•"/>
            </a:pPr>
            <a:r>
              <a:rPr lang="de-DE" sz="1900" b="0" dirty="0">
                <a:solidFill>
                  <a:srgbClr val="111827"/>
                </a:solidFill>
                <a:latin typeface="Aptos"/>
              </a:rPr>
              <a:t>Die App kombiniert Modellwahrscheinlichkeit, Beschleunigungsmaximum und Bewegung nach dem Impact.</a:t>
            </a:r>
          </a:p>
          <a:p>
            <a:pPr marL="280000" indent="-160000" spcAft="90000">
              <a:buChar char="•"/>
            </a:pPr>
            <a:r>
              <a:rPr lang="de-DE" sz="1900" b="0" dirty="0">
                <a:solidFill>
                  <a:srgbClr val="111827"/>
                </a:solidFill>
                <a:latin typeface="Aptos"/>
              </a:rPr>
              <a:t>Das reduziert Fehlalarme bei Remplern oder wenn nur das Handy herunterfällt.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089C8C"/>
          </a:solidFill>
          <a:ln w="10000">
            <a:solidFill>
              <a:srgbClr val="089C8C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089C8C"/>
                </a:solidFill>
                <a:latin typeface="Aptos"/>
              </a:rPr>
              <a:t>VALIDIERUNG IN DER APP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Szenarien im Testmodus</a:t>
            </a:r>
          </a:p>
        </p:txBody>
      </p:sp>
      <p:sp>
        <p:nvSpPr>
          <p:cNvPr id="6" name="Card"/>
          <p:cNvSpPr/>
          <p:nvPr/>
        </p:nvSpPr>
        <p:spPr>
          <a:xfrm>
            <a:off x="306000" y="496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63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Echter Sturz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63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soll Alarm auslösen</a:t>
            </a:r>
          </a:p>
        </p:txBody>
      </p:sp>
      <p:sp>
        <p:nvSpPr>
          <p:cNvPr id="9" name="Card"/>
          <p:cNvSpPr/>
          <p:nvPr/>
        </p:nvSpPr>
        <p:spPr>
          <a:xfrm>
            <a:off x="2448000" y="496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505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Sturz low/high rot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505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Grenzfälle</a:t>
            </a:r>
          </a:p>
        </p:txBody>
      </p:sp>
      <p:sp>
        <p:nvSpPr>
          <p:cNvPr id="12" name="Card"/>
          <p:cNvSpPr/>
          <p:nvPr/>
        </p:nvSpPr>
        <p:spPr>
          <a:xfrm>
            <a:off x="4590000" y="496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647600" y="540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Rempler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47600" y="684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kein Sturz</a:t>
            </a:r>
          </a:p>
        </p:txBody>
      </p:sp>
      <p:sp>
        <p:nvSpPr>
          <p:cNvPr id="15" name="Card"/>
          <p:cNvSpPr/>
          <p:nvPr/>
        </p:nvSpPr>
        <p:spPr>
          <a:xfrm>
            <a:off x="306000" y="1072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363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Gehen/Joggen/Treppe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63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normale Bewegung</a:t>
            </a:r>
          </a:p>
        </p:txBody>
      </p:sp>
      <p:sp>
        <p:nvSpPr>
          <p:cNvPr id="18" name="Card"/>
          <p:cNvSpPr/>
          <p:nvPr/>
        </p:nvSpPr>
        <p:spPr>
          <a:xfrm>
            <a:off x="2448000" y="1072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2505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Handy fällt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505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verdächtig, aber nicht Person gestürzt</a:t>
            </a:r>
          </a:p>
        </p:txBody>
      </p:sp>
      <p:sp>
        <p:nvSpPr>
          <p:cNvPr id="21" name="Card"/>
          <p:cNvSpPr/>
          <p:nvPr/>
        </p:nvSpPr>
        <p:spPr>
          <a:xfrm>
            <a:off x="4590000" y="1072800"/>
            <a:ext cx="2034000" cy="460800"/>
          </a:xfrm>
          <a:prstGeom prst="roundRect">
            <a:avLst/>
          </a:prstGeom>
          <a:solidFill>
            <a:srgbClr val="E6F7F5"/>
          </a:solidFill>
          <a:ln w="10000">
            <a:solidFill>
              <a:srgbClr val="D7DCE5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4647600" y="1116000"/>
            <a:ext cx="19188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250" b="1" dirty="0">
                <a:solidFill>
                  <a:srgbClr val="089C8C"/>
                </a:solidFill>
                <a:latin typeface="Aptos"/>
              </a:rPr>
              <a:t>Stolpern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647600" y="1260000"/>
            <a:ext cx="1918800" cy="162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1000" b="0" dirty="0">
                <a:solidFill>
                  <a:srgbClr val="667085"/>
                </a:solidFill>
                <a:latin typeface="Aptos"/>
              </a:rPr>
              <a:t>Normal oder verdächtig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7A5AF8"/>
          </a:solidFill>
          <a:ln w="10000">
            <a:solidFill>
              <a:srgbClr val="7A5AF8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7A5AF8"/>
                </a:solidFill>
                <a:latin typeface="Aptos"/>
              </a:rPr>
              <a:t>VOM TRAINING IN DIE APP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Deployment</a:t>
            </a:r>
          </a:p>
        </p:txBody>
      </p:sp>
      <p:sp>
        <p:nvSpPr>
          <p:cNvPr id="6" name="Process"/>
          <p:cNvSpPr/>
          <p:nvPr/>
        </p:nvSpPr>
        <p:spPr>
          <a:xfrm>
            <a:off x="2952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3384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7A5AF8"/>
                </a:solidFill>
                <a:latin typeface="Aptos"/>
              </a:rPr>
              <a:t>Keras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3492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.keras Modell</a:t>
            </a:r>
          </a:p>
        </p:txBody>
      </p:sp>
      <p:sp>
        <p:nvSpPr>
          <p:cNvPr id="9" name="Arrow"/>
          <p:cNvSpPr/>
          <p:nvPr/>
        </p:nvSpPr>
        <p:spPr>
          <a:xfrm>
            <a:off x="1404000" y="702000"/>
            <a:ext cx="136800" cy="100800"/>
          </a:xfrm>
          <a:prstGeom prst="rightArrow">
            <a:avLst/>
          </a:prstGeom>
          <a:solidFill>
            <a:srgbClr val="7A5AF8"/>
          </a:solidFill>
          <a:ln>
            <a:noFill/>
          </a:ln>
        </p:spPr>
      </p:sp>
      <p:sp>
        <p:nvSpPr>
          <p:cNvPr id="10" name="Process"/>
          <p:cNvSpPr/>
          <p:nvPr/>
        </p:nvSpPr>
        <p:spPr>
          <a:xfrm>
            <a:off x="15984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6416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7A5AF8"/>
                </a:solidFill>
                <a:latin typeface="Aptos"/>
              </a:rPr>
              <a:t>Export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524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float32 + quantized TFLite</a:t>
            </a:r>
          </a:p>
        </p:txBody>
      </p:sp>
      <p:sp>
        <p:nvSpPr>
          <p:cNvPr id="13" name="Arrow"/>
          <p:cNvSpPr/>
          <p:nvPr/>
        </p:nvSpPr>
        <p:spPr>
          <a:xfrm>
            <a:off x="2707200" y="702000"/>
            <a:ext cx="136800" cy="100800"/>
          </a:xfrm>
          <a:prstGeom prst="rightArrow">
            <a:avLst/>
          </a:prstGeom>
          <a:solidFill>
            <a:srgbClr val="7A5AF8"/>
          </a:solidFill>
          <a:ln>
            <a:noFill/>
          </a:ln>
        </p:spPr>
      </p:sp>
      <p:sp>
        <p:nvSpPr>
          <p:cNvPr id="14" name="Process"/>
          <p:cNvSpPr/>
          <p:nvPr/>
        </p:nvSpPr>
        <p:spPr>
          <a:xfrm>
            <a:off x="29016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29448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7A5AF8"/>
                </a:solidFill>
                <a:latin typeface="Aptos"/>
              </a:rPr>
              <a:t>Assets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9556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.tflite + metadata.json</a:t>
            </a:r>
          </a:p>
        </p:txBody>
      </p:sp>
      <p:sp>
        <p:nvSpPr>
          <p:cNvPr id="17" name="Arrow"/>
          <p:cNvSpPr/>
          <p:nvPr/>
        </p:nvSpPr>
        <p:spPr>
          <a:xfrm>
            <a:off x="4010400" y="702000"/>
            <a:ext cx="136800" cy="100800"/>
          </a:xfrm>
          <a:prstGeom prst="rightArrow">
            <a:avLst/>
          </a:prstGeom>
          <a:solidFill>
            <a:srgbClr val="7A5AF8"/>
          </a:solidFill>
          <a:ln>
            <a:noFill/>
          </a:ln>
        </p:spPr>
      </p:sp>
      <p:sp>
        <p:nvSpPr>
          <p:cNvPr id="18" name="Process"/>
          <p:cNvSpPr/>
          <p:nvPr/>
        </p:nvSpPr>
        <p:spPr>
          <a:xfrm>
            <a:off x="42048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2480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7A5AF8"/>
                </a:solidFill>
                <a:latin typeface="Aptos"/>
              </a:rPr>
              <a:t>Android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2588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Interpreter + Normalisierung</a:t>
            </a:r>
          </a:p>
        </p:txBody>
      </p:sp>
      <p:sp>
        <p:nvSpPr>
          <p:cNvPr id="21" name="Arrow"/>
          <p:cNvSpPr/>
          <p:nvPr/>
        </p:nvSpPr>
        <p:spPr>
          <a:xfrm>
            <a:off x="5313600" y="702000"/>
            <a:ext cx="136800" cy="100800"/>
          </a:xfrm>
          <a:prstGeom prst="rightArrow">
            <a:avLst/>
          </a:prstGeom>
          <a:solidFill>
            <a:srgbClr val="7A5AF8"/>
          </a:solidFill>
          <a:ln>
            <a:noFill/>
          </a:ln>
        </p:spPr>
      </p:sp>
      <p:sp>
        <p:nvSpPr>
          <p:cNvPr id="22" name="Process"/>
          <p:cNvSpPr/>
          <p:nvPr/>
        </p:nvSpPr>
        <p:spPr>
          <a:xfrm>
            <a:off x="5508000" y="532800"/>
            <a:ext cx="1087200" cy="4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551200" y="586800"/>
            <a:ext cx="990000" cy="1080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1250" b="1" dirty="0">
                <a:solidFill>
                  <a:srgbClr val="7A5AF8"/>
                </a:solidFill>
                <a:latin typeface="Aptos"/>
              </a:rPr>
              <a:t>UI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562000" y="748800"/>
            <a:ext cx="972000" cy="151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c">
              <a:buNone/>
            </a:pPr>
            <a:r>
              <a:rPr lang="de-DE" sz="950" b="0" dirty="0">
                <a:solidFill>
                  <a:srgbClr val="667085"/>
                </a:solidFill>
                <a:latin typeface="Aptos"/>
              </a:rPr>
              <a:t>Status und Notfall-Countdown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360000" y="1216800"/>
            <a:ext cx="6120000" cy="8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Das verwendete App-Modell liegt als fall_detection_real_150x6_float32.tflite in den Assets.</a:t>
            </a:r>
          </a:p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metadata.json speichert Mean und Standardabweichung.</a:t>
            </a:r>
          </a:p>
          <a:p>
            <a:pPr marL="280000" indent="-160000" spcAft="90000">
              <a:buChar char="•"/>
            </a:pPr>
            <a:r>
              <a:rPr lang="de-DE" sz="1950" b="0" dirty="0">
                <a:solidFill>
                  <a:srgbClr val="111827"/>
                </a:solidFill>
                <a:latin typeface="Aptos"/>
              </a:rPr>
              <a:t>Die Inferenz läuft lokal auf dem Gerät.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F79009"/>
          </a:solidFill>
          <a:ln w="10000">
            <a:solidFill>
              <a:srgbClr val="F79009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F79009"/>
                </a:solidFill>
                <a:latin typeface="Aptos"/>
              </a:rPr>
              <a:t>WEITERENTWICKLUNG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Grenzen und Ausblick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324000" y="514800"/>
            <a:ext cx="6192000" cy="1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Mehr selbst aufgezeichnete Smartphone-Daten würden die Generalisierung verbessern.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Ein Hintergrundservice wäre nötig, damit die Überwachung dauerhaft im Alltag läuft.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Kontakt- oder Notrufintegration ist aktuell simuliert und müsste produktiv umgesetzt werden.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Weitere Modellvergleiche: LSTM, GRU, Temporal CNN oder kompakte Transformer.</a:t>
            </a:r>
          </a:p>
          <a:p>
            <a:pPr marL="280000" indent="-160000" spcAft="90000">
              <a:buChar char="•"/>
            </a:pPr>
            <a:r>
              <a:rPr lang="de-DE" sz="2150" b="0" dirty="0">
                <a:solidFill>
                  <a:srgbClr val="111827"/>
                </a:solidFill>
                <a:latin typeface="Aptos"/>
              </a:rPr>
              <a:t>Eine Nutzerstudie sollte Fehlalarme und reale Erkennungsrate außerhalb des Labors messen.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 w="10000">
            <a:solidFill>
              <a:srgbClr val="F6F7F9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2457D6"/>
          </a:solidFill>
          <a:ln w="10000">
            <a:solidFill>
              <a:srgbClr val="2457D6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270000" y="100800"/>
            <a:ext cx="6300000" cy="1008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950" b="1" dirty="0">
                <a:solidFill>
                  <a:srgbClr val="2457D6"/>
                </a:solidFill>
                <a:latin typeface="Aptos"/>
              </a:rPr>
              <a:t>KERNAUSSAGE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59200" y="208800"/>
            <a:ext cx="6552000" cy="223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l">
              <a:buNone/>
            </a:pPr>
            <a:r>
              <a:rPr lang="de-DE" sz="2850" b="1" dirty="0">
                <a:solidFill>
                  <a:srgbClr val="111827"/>
                </a:solidFill>
                <a:latin typeface="Aptos"/>
              </a:rPr>
              <a:t>Fazit</a:t>
            </a:r>
          </a:p>
        </p:txBody>
      </p:sp>
      <p:sp>
        <p:nvSpPr>
          <p:cNvPr id="6" name="FinalCard"/>
          <p:cNvSpPr/>
          <p:nvPr/>
        </p:nvSpPr>
        <p:spPr>
          <a:xfrm>
            <a:off x="306000" y="460800"/>
            <a:ext cx="6336000" cy="153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7DCE5"/>
            </a:solidFill>
          </a:ln>
        </p:spPr>
      </p:sp>
      <p:sp>
        <p:nvSpPr>
          <p:cNvPr id="7" name="Bullets"/>
          <p:cNvSpPr txBox="1"/>
          <p:nvPr/>
        </p:nvSpPr>
        <p:spPr>
          <a:xfrm>
            <a:off x="450000" y="622800"/>
            <a:ext cx="5976000" cy="120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0000" indent="-160000" spcAft="90000">
              <a:buChar char="•"/>
            </a:pPr>
            <a:r>
              <a:rPr lang="de-DE" sz="2300" b="0" dirty="0">
                <a:solidFill>
                  <a:srgbClr val="111827"/>
                </a:solidFill>
                <a:latin typeface="Aptos"/>
              </a:rPr>
              <a:t>Die Lösung ist technisch durchgängig umgesetzt: Datenaufbereitung, Training, TFLite-Export und Android-App.</a:t>
            </a:r>
          </a:p>
          <a:p>
            <a:pPr marL="280000" indent="-160000" spcAft="90000">
              <a:buChar char="•"/>
            </a:pPr>
            <a:r>
              <a:rPr lang="de-DE" sz="2300" b="0" dirty="0">
                <a:solidFill>
                  <a:srgbClr val="111827"/>
                </a:solidFill>
                <a:latin typeface="Aptos"/>
              </a:rPr>
              <a:t>Das 1D-CNN erreicht eine starke Testleistung und bleibt klein genug für lokale Ausführung.</a:t>
            </a:r>
          </a:p>
          <a:p>
            <a:pPr marL="280000" indent="-160000" spcAft="90000">
              <a:buChar char="•"/>
            </a:pPr>
            <a:r>
              <a:rPr lang="de-DE" sz="2300" b="0" dirty="0">
                <a:solidFill>
                  <a:srgbClr val="111827"/>
                </a:solidFill>
                <a:latin typeface="Aptos"/>
              </a:rPr>
              <a:t>Die App ergänzt das Netz durch Sicherheitsregeln, Testmodus und Notfall-Countdown.</a:t>
            </a:r>
          </a:p>
          <a:p>
            <a:pPr marL="280000" indent="-160000" spcAft="90000">
              <a:buChar char="•"/>
            </a:pPr>
            <a:r>
              <a:rPr lang="de-DE" sz="2300" b="0" dirty="0">
                <a:solidFill>
                  <a:srgbClr val="111827"/>
                </a:solidFill>
                <a:latin typeface="Aptos"/>
              </a:rPr>
              <a:t>Damit ist das Projekt eine lauffähige Grundlage für eine KI-basierte Sturzerkennung auf dem Smartphone.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52000" y="2314800"/>
            <a:ext cx="198000" cy="79200"/>
          </a:xfrm>
          <a:prstGeom prst="rect">
            <a:avLst/>
          </a:prstGeom>
          <a:noFill/>
          <a:ln>
            <a:noFill/>
          </a:ln>
        </p:spPr>
        <p:txBody>
          <a:bodyPr wrap="square" lIns="90000" tIns="50000" rIns="90000" bIns="50000"/>
          <a:lstStyle/>
          <a:p>
            <a:pPr algn="r">
              <a:buNone/>
            </a:pPr>
            <a:r>
              <a:rPr lang="de-DE" sz="850" b="0" dirty="0">
                <a:solidFill>
                  <a:srgbClr val="66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rzDetektion">
  <a:themeElements>
    <a:clrScheme name="Clean">
      <a:dk1>
        <a:srgbClr val="111827"/>
      </a:dk1>
      <a:lt1>
        <a:srgbClr val="FFFFFF"/>
      </a:lt1>
      <a:dk2>
        <a:srgbClr val="667085"/>
      </a:dk2>
      <a:lt2>
        <a:srgbClr val="F6F7F9"/>
      </a:lt2>
      <a:accent1>
        <a:srgbClr val="2457D6"/>
      </a:accent1>
      <a:accent2>
        <a:srgbClr val="089C8C"/>
      </a:accent2>
      <a:accent3>
        <a:srgbClr val="D92D20"/>
      </a:accent3>
      <a:accent4>
        <a:srgbClr val="F79009"/>
      </a:accent4>
      <a:accent5>
        <a:srgbClr val="12B76A"/>
      </a:accent5>
      <a:accent6>
        <a:srgbClr val="7A5AF8"/>
      </a:accent6>
      <a:hlink>
        <a:srgbClr val="2457D6"/>
      </a:hlink>
      <a:folHlink>
        <a:srgbClr val="7A5AF8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21</Slides>
  <Notes>0</Notes>
  <HiddenSlides>0</HiddenSlide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SturzDetektion Abschlusspräsentation überarbeitet</dc:title>
  <dc:subject>KI-basierte Sturzerkennung</dc:subject>
  <dc:creator>Codex</dc:creator>
  <cp:lastModifiedBy>Codex</cp:lastModifiedBy>
  <dcterms:created xsi:type="dcterms:W3CDTF">2026-06-24T17:44:52Z</dcterms:created>
  <dcterms:modified xsi:type="dcterms:W3CDTF">2026-06-24T17:44:52Z</dcterms:modified>
</cp:coreProperties>
</file>