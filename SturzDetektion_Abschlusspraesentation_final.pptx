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637"/>
  </p:normalViewPr>
  <p:slideViewPr>
    <p:cSldViewPr snapToGrid="0" snapToObjects="1">
      <p:cViewPr varScale="1">
        <p:scale>
          <a:sx n="147" d="100"/>
          <a:sy n="147" d="100"/>
        </p:scale>
        <p:origin x="224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868680"/>
            <a:ext cx="1083564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234440"/>
            <a:ext cx="40233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ABSCHLUSSPRÄSENTATION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600200"/>
            <a:ext cx="786384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  <a:latin typeface="Aptos"/>
              </a:rPr>
              <a:t>SturzDetektion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89611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900" b="0">
                <a:solidFill>
                  <a:srgbClr val="667085"/>
                </a:solidFill>
                <a:latin typeface="Aptos"/>
              </a:rPr>
              <a:t>KI-basierte Sturzerkennung mit Android-App und 1D-CNN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977639"/>
            <a:ext cx="20574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4069079"/>
            <a:ext cx="1911095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4434840"/>
            <a:ext cx="1911095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Java-App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977639"/>
            <a:ext cx="20574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4069079"/>
            <a:ext cx="1911095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150 x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4434840"/>
            <a:ext cx="1911095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Inputfenster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3977639"/>
            <a:ext cx="20574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53912" y="4069079"/>
            <a:ext cx="1911095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1D-CNN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4434840"/>
            <a:ext cx="1911095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Modell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3977639"/>
            <a:ext cx="20574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68512" y="4069079"/>
            <a:ext cx="1911095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93,97 %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4434840"/>
            <a:ext cx="1911095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Test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0D9488"/>
                </a:solidFill>
                <a:latin typeface="Aptos"/>
              </a:rPr>
              <a:t>ÜBERBLICK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Projekt in einem Bild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84708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54480"/>
            <a:ext cx="162763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D9488"/>
                </a:solidFill>
                <a:latin typeface="Aptos"/>
              </a:rPr>
              <a:t>Sensoren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92808"/>
            <a:ext cx="160934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Accel + Gyro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1810512"/>
            <a:ext cx="256032" cy="219456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26080" y="1417320"/>
            <a:ext cx="184708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5808" y="1554480"/>
            <a:ext cx="162763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D9488"/>
                </a:solidFill>
                <a:latin typeface="Aptos"/>
              </a:rPr>
              <a:t>Fenster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1892808"/>
            <a:ext cx="160934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3 Sekunden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00600" y="1810512"/>
            <a:ext cx="256032" cy="219456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66360" y="1417320"/>
            <a:ext cx="184708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76088" y="1554480"/>
            <a:ext cx="162763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D9488"/>
                </a:solidFill>
                <a:latin typeface="Aptos"/>
              </a:rPr>
              <a:t>KI-Modell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1892808"/>
            <a:ext cx="160934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TFLite 1D-CNN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40880" y="1810512"/>
            <a:ext cx="256032" cy="219456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06640" y="1417320"/>
            <a:ext cx="184708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16368" y="1554480"/>
            <a:ext cx="162763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D9488"/>
                </a:solidFill>
                <a:latin typeface="Aptos"/>
              </a:rPr>
              <a:t>Regeln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1892808"/>
            <a:ext cx="160934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Sicherheitscheck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81160" y="1810512"/>
            <a:ext cx="256032" cy="219456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46920" y="1417320"/>
            <a:ext cx="184708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56648" y="1554480"/>
            <a:ext cx="162763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D9488"/>
                </a:solidFill>
                <a:latin typeface="Aptos"/>
              </a:rPr>
              <a:t>Alarm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1892808"/>
            <a:ext cx="160934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Countdown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2971800"/>
            <a:ext cx="1060704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3246120"/>
            <a:ext cx="10012680" cy="1783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Die App analysiert Bewegungsdaten lokal auf dem Smartphone.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Das neuronale Netz bewertet jedes Zeitfenster mit vier Klassenwahrscheinlichkeiten.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Eine zusätzliche Sicherheitslogik entscheidet, ob wirklich ein Alarm ausgelöst wird.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DC2626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Problem und Ziel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5166360" cy="429768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554480"/>
            <a:ext cx="20116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DC2626"/>
                </a:solidFill>
                <a:latin typeface="Aptos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4526280" cy="2560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Stürze können unbemerkt bleiben.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Hilfe kommt oft verzögert.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Alltagsbewegungen können Fehlalarme verursachen.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166360" cy="429768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554480"/>
            <a:ext cx="20116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Aptos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4526280" cy="2560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Bewegungen kontinuierlich erfassen.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Stürze lokal mit KI erkennen.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Fehlalarme durch Sicherheitsregeln reduzieren.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Im Ernstfall einen Countdown starten.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ANDROID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App-Aufbau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246120" cy="43434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27889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Aptos"/>
              </a:rPr>
              <a:t>UI-Schicht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2423160" cy="23774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Dashboard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Testmodus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Notfallkarte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25880"/>
            <a:ext cx="3246120" cy="434340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27889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Aptos"/>
              </a:rPr>
              <a:t>Laufzeitlogik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48840"/>
            <a:ext cx="2423160" cy="23774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SensorEventListener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Ringbuffer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processDetection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325880"/>
            <a:ext cx="3246120" cy="4343400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9" y="1600200"/>
            <a:ext cx="27889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Aptos"/>
              </a:rPr>
              <a:t>KI-Schicht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2148840"/>
            <a:ext cx="2423160" cy="23774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TFLite Interpreter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metadata.json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4 Klassen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89320"/>
            <a:ext cx="10789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0">
                <a:solidFill>
                  <a:srgbClr val="667085"/>
                </a:solidFill>
                <a:latin typeface="Aptos"/>
              </a:rPr>
              <a:t>Technik: Java, AppCompat, Material Components, TensorFlow Lite 2.16.1, minSdk 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16A34A"/>
                </a:solidFill>
                <a:latin typeface="Aptos"/>
              </a:rPr>
              <a:t>BEDIENUNG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Funktionen der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324612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572768"/>
            <a:ext cx="290779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6A34A"/>
                </a:solidFill>
                <a:latin typeface="Aptos"/>
              </a:rPr>
              <a:t>Start/Stop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993392"/>
            <a:ext cx="290779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ptos"/>
              </a:rPr>
              <a:t>Live-Überwachung aktivieren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371600"/>
            <a:ext cx="324612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5151" y="1572768"/>
            <a:ext cx="290779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6A34A"/>
                </a:solidFill>
                <a:latin typeface="Aptos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1" y="1993392"/>
            <a:ext cx="290779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ptos"/>
              </a:rPr>
              <a:t>Sensorquelle und Modellstatus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371600"/>
            <a:ext cx="324612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48471" y="1572768"/>
            <a:ext cx="290779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6A34A"/>
                </a:solidFill>
                <a:latin typeface="Aptos"/>
              </a:rPr>
              <a:t>Wahrscheinlichkeiten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1993392"/>
            <a:ext cx="290779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ptos"/>
              </a:rPr>
              <a:t>alle vier Klassen sichtbar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46120"/>
            <a:ext cx="324612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3447288"/>
            <a:ext cx="290779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6A34A"/>
                </a:solidFill>
                <a:latin typeface="Aptos"/>
              </a:rPr>
              <a:t>Testmodus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867911"/>
            <a:ext cx="290779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ptos"/>
              </a:rPr>
              <a:t>Szenarien simulieren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3246120"/>
            <a:ext cx="324612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45151" y="3447288"/>
            <a:ext cx="290779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6A34A"/>
                </a:solidFill>
                <a:latin typeface="Aptos"/>
              </a:rPr>
              <a:t>Notfall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1" y="3867911"/>
            <a:ext cx="290779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ptos"/>
              </a:rPr>
              <a:t>30-Sekunden-Countdown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3246120"/>
            <a:ext cx="324612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8471" y="3447288"/>
            <a:ext cx="290779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6A34A"/>
                </a:solidFill>
                <a:latin typeface="Aptos"/>
              </a:rPr>
              <a:t>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3867911"/>
            <a:ext cx="290779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ptos"/>
              </a:rPr>
              <a:t>Erkennung nachvollziehen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0D9488"/>
                </a:solidFill>
                <a:latin typeface="Aptos"/>
              </a:rPr>
              <a:t>LIVE-ERKENNUNG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Sensorpipeline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84708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54480"/>
            <a:ext cx="162763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D9488"/>
                </a:solidFill>
                <a:latin typeface="Aptos"/>
              </a:rPr>
              <a:t>Accel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92808"/>
            <a:ext cx="160934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ax, ay, az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1810512"/>
            <a:ext cx="256032" cy="219456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26080" y="1417320"/>
            <a:ext cx="184708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5808" y="1554480"/>
            <a:ext cx="162763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D9488"/>
                </a:solidFill>
                <a:latin typeface="Aptos"/>
              </a:rPr>
              <a:t>Gyro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1892808"/>
            <a:ext cx="160934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gx, gy, gz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00600" y="1810512"/>
            <a:ext cx="256032" cy="219456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66360" y="1417320"/>
            <a:ext cx="184708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76088" y="1554480"/>
            <a:ext cx="162763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D9488"/>
                </a:solidFill>
                <a:latin typeface="Aptos"/>
              </a:rPr>
              <a:t>Ringbuffer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1892808"/>
            <a:ext cx="160934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150 Samples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40880" y="1810512"/>
            <a:ext cx="256032" cy="219456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06640" y="1417320"/>
            <a:ext cx="184708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16368" y="1554480"/>
            <a:ext cx="162763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D9488"/>
                </a:solidFill>
                <a:latin typeface="Aptos"/>
              </a:rPr>
              <a:t>Normierung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1892808"/>
            <a:ext cx="160934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Mean / Std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81160" y="1810512"/>
            <a:ext cx="256032" cy="219456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46920" y="1417320"/>
            <a:ext cx="184708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56648" y="1554480"/>
            <a:ext cx="162763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D9488"/>
                </a:solidFill>
                <a:latin typeface="Aptos"/>
              </a:rPr>
              <a:t>Inferenz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1892808"/>
            <a:ext cx="160934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alle 400 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2971800"/>
            <a:ext cx="1060704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3246120"/>
            <a:ext cx="10012680" cy="1783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Fenstergröße: 150 Samples = 3,0 Sekunden bei 50 Hz.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Die App nutzt dieselbe Normalisierung wie das Trainingsscript.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Beschleunigungs- und Gyro-Magnituden werden zusätzlich für Sicherheitsregeln berechnet.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TRAININGSDATEN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Datengrundlage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70432"/>
            <a:ext cx="214884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261872"/>
            <a:ext cx="200253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35.749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27632"/>
            <a:ext cx="200253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Fenster final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170432"/>
            <a:ext cx="18288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36392" y="1261872"/>
            <a:ext cx="168249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1627632"/>
            <a:ext cx="168249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Datensätze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170432"/>
            <a:ext cx="18288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02352" y="1261872"/>
            <a:ext cx="168249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50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352" y="1627632"/>
            <a:ext cx="168249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Zielrate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31720"/>
            <a:ext cx="4206240" cy="2560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SisFall, UniMiB und UP-Fall wurden vereinheitlicht.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Alle Sequenzen werden auf 150 x 6 Fenster gebracht.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Balancing verhindert eine zu starke Dominanz einzelner Klassen.</a:t>
            </a:r>
          </a:p>
        </p:txBody>
      </p:sp>
      <p:pic>
        <p:nvPicPr>
          <p:cNvPr id="15" name="Picture 14" descr="datenquellen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080791"/>
            <a:ext cx="5806440" cy="29707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Aptos"/>
              </a:rPr>
              <a:t>NACH BALANCING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Klassenverteilung</a:t>
            </a:r>
          </a:p>
        </p:txBody>
      </p:sp>
      <p:pic>
        <p:nvPicPr>
          <p:cNvPr id="5" name="Picture 4" descr="klassen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75460"/>
            <a:ext cx="5486400" cy="3352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37960" y="1325880"/>
            <a:ext cx="461772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1627632"/>
            <a:ext cx="32918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900" b="1">
                <a:solidFill>
                  <a:srgbClr val="7C3AED"/>
                </a:solidFill>
                <a:latin typeface="Aptos"/>
              </a:rPr>
              <a:t>Vier Zielklassen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148840"/>
            <a:ext cx="3840480" cy="21031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0 Ruhiger Alltag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1 Normale Bewegung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2 Sturzähnlich, aber OK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3 Sturz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4709160"/>
            <a:ext cx="37947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Aptos"/>
              </a:rPr>
              <a:t>Klasse 2 ist wichtig, weil sie harte, aber ungefährliche Bewegungen abfängt.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F59E0B"/>
                </a:solidFill>
                <a:latin typeface="Aptos"/>
              </a:rPr>
              <a:t>SUBJECT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Train / Validation / Test</a:t>
            </a:r>
          </a:p>
        </p:txBody>
      </p:sp>
      <p:pic>
        <p:nvPicPr>
          <p:cNvPr id="5" name="Picture 4" descr="split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00515"/>
            <a:ext cx="5852160" cy="29941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95160" y="1417320"/>
            <a:ext cx="4206240" cy="411480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69480" y="1737360"/>
            <a:ext cx="3657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Aptos"/>
              </a:rPr>
              <a:t>Warum nach Personen splitten?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240280"/>
            <a:ext cx="3429000" cy="2011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Keine identischen Personen in Train und Test.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Geringeres Risiko für Data Leakage.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Realistischere Aussage über Generalisierung.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4709160"/>
            <a:ext cx="324612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25512" y="4800600"/>
            <a:ext cx="3099815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Aptos"/>
              </a:rPr>
              <a:t>60 / 15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5512" y="5166360"/>
            <a:ext cx="3099815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Subjects in Train / Val /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DC2626"/>
                </a:solidFill>
                <a:latin typeface="Aptos"/>
              </a:rPr>
              <a:t>1D-CNN ARCHITEKTUR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Neuronales Netz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3317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490472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56231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ptos"/>
              </a:rPr>
              <a:t>150 x 6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53512" y="1755648"/>
            <a:ext cx="320040" cy="22860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23317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8728" y="1490472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Conv1D 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1856231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ptos"/>
              </a:rPr>
              <a:t>BN + ReLU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88152" y="1755648"/>
            <a:ext cx="320040" cy="22860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23317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490472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Conv1D 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856231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ptos"/>
              </a:rPr>
              <a:t>Pooling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22792" y="1755648"/>
            <a:ext cx="320040" cy="22860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98280" y="1325880"/>
            <a:ext cx="23317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08008" y="1490472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Conv1D 128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1856231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ptos"/>
              </a:rPr>
              <a:t>Dropout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54680"/>
            <a:ext cx="23317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319272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Conv1D 128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3685032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ptos"/>
              </a:rPr>
              <a:t>Features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953512" y="3584448"/>
            <a:ext cx="320040" cy="22860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429000" y="3154680"/>
            <a:ext cx="23317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38728" y="3319272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Avg + Max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3685032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ptos"/>
              </a:rPr>
              <a:t>Pooling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788152" y="3584448"/>
            <a:ext cx="320040" cy="22860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63640" y="3154680"/>
            <a:ext cx="23317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3368" y="3319272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Dense 96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3685032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ptos"/>
              </a:rPr>
              <a:t>Dropout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622792" y="3584448"/>
            <a:ext cx="320040" cy="22860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98280" y="3154680"/>
            <a:ext cx="23317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08008" y="3319272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Softmax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8008" y="3685032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ptos"/>
              </a:rPr>
              <a:t>4 Klassen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11680" y="5349240"/>
            <a:ext cx="214884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84832" y="5440679"/>
            <a:ext cx="200253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Aptos"/>
              </a:rPr>
              <a:t>112.516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84832" y="5806440"/>
            <a:ext cx="200253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Parameter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5349240"/>
            <a:ext cx="214884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36592" y="5440679"/>
            <a:ext cx="200253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Aptos"/>
              </a:rPr>
              <a:t>111.620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36592" y="5806440"/>
            <a:ext cx="200253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trainierbar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5349240"/>
            <a:ext cx="214884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88352" y="5440679"/>
            <a:ext cx="200253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Aptos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8352" y="5806440"/>
            <a:ext cx="200253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Ausgabeklassen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224028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25880"/>
            <a:ext cx="209397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TensorFlow 2.21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91640"/>
            <a:ext cx="209397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234440"/>
            <a:ext cx="224028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93592" y="1325880"/>
            <a:ext cx="209397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Batch 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691640"/>
            <a:ext cx="209397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Batch Size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224028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325880"/>
            <a:ext cx="209397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691640"/>
            <a:ext cx="209397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Epochen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234440"/>
            <a:ext cx="224028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79992" y="1325880"/>
            <a:ext cx="209397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1e-3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1691640"/>
            <a:ext cx="209397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Learning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423160"/>
            <a:ext cx="4983480" cy="29718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2697480"/>
            <a:ext cx="32918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Augmentation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46120"/>
            <a:ext cx="4023360" cy="1645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leichtes Rauschen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Skalierung 0,92 bis 1,08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Gyro-Dropout 30 %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Time Shift ±10 Samples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423160"/>
            <a:ext cx="4983480" cy="297180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2697480"/>
            <a:ext cx="3931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900" b="1">
                <a:solidFill>
                  <a:srgbClr val="16A34A"/>
                </a:solidFill>
                <a:latin typeface="Aptos"/>
              </a:rPr>
              <a:t>Schutz vor Overfitting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46120"/>
            <a:ext cx="4023360" cy="1645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subject-stratified split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Class Weights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Dropout im Netz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Validation während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ACCURACY UND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Trainingsverlauf</a:t>
            </a:r>
          </a:p>
        </p:txBody>
      </p:sp>
      <p:pic>
        <p:nvPicPr>
          <p:cNvPr id="5" name="Picture 4" descr="real_training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08735"/>
            <a:ext cx="5349240" cy="4011930"/>
          </a:xfrm>
          <a:prstGeom prst="rect">
            <a:avLst/>
          </a:prstGeom>
        </p:spPr>
      </p:pic>
      <p:pic>
        <p:nvPicPr>
          <p:cNvPr id="6" name="Picture 5" descr="real_training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08735"/>
            <a:ext cx="5349240" cy="40119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0">
                <a:solidFill>
                  <a:srgbClr val="667085"/>
                </a:solidFill>
                <a:latin typeface="Aptos"/>
              </a:rPr>
              <a:t>Die Kurven dienen als Plausibilitätscheck: Accuracy steigt, Loss sinkt und stabilisiert sich.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16A34A"/>
                </a:solidFill>
                <a:latin typeface="Aptos"/>
              </a:rPr>
              <a:t>GESAMTLEISTUNG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Testergebnisse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224028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71600"/>
            <a:ext cx="209397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Aptos"/>
              </a:rPr>
              <a:t>93,97 %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209397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280160"/>
            <a:ext cx="224028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93592" y="1371600"/>
            <a:ext cx="209397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0,2292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737360"/>
            <a:ext cx="209397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Test Loss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224028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371600"/>
            <a:ext cx="209397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Aptos"/>
              </a:rPr>
              <a:t>99,3 %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737360"/>
            <a:ext cx="209397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Sturz Precision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280160"/>
            <a:ext cx="224028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79992" y="1371600"/>
            <a:ext cx="209397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Aptos"/>
              </a:rPr>
              <a:t>95,7 %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1737360"/>
            <a:ext cx="209397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Sturz Recall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2743200"/>
            <a:ext cx="1001268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17320" y="3154680"/>
            <a:ext cx="9235440" cy="1417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Das Modell erkennt die Klasse Sturz sehr zuverlässig.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Die schwierigsten Fehler liegen zwischen Sturz und sturzähnlicher Bewegung.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Genau deshalb nutzt die App zusätzlich Beschleunigung, Nachbewegung und Mehrfachfenster-Bestätigung.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16A34A"/>
                </a:solidFill>
                <a:latin typeface="Aptos"/>
              </a:rPr>
              <a:t>PRECISION / RECALL /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Klassenauswertung</a:t>
            </a:r>
          </a:p>
        </p:txBody>
      </p:sp>
      <p:pic>
        <p:nvPicPr>
          <p:cNvPr id="5" name="Picture 4" descr="metrics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13556"/>
            <a:ext cx="7452360" cy="37680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417320"/>
            <a:ext cx="2834640" cy="3977639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32520" y="1737360"/>
            <a:ext cx="22860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>
                <a:solidFill>
                  <a:srgbClr val="16A34A"/>
                </a:solidFill>
                <a:latin typeface="Aptos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240280"/>
            <a:ext cx="2240280" cy="1965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111827"/>
                </a:solidFill>
                <a:latin typeface="Aptos"/>
              </a:defRPr>
            </a:pPr>
            <a:r>
              <a:t>Sturz: höchste Precision.</a:t>
            </a:r>
          </a:p>
          <a:p>
            <a:pPr>
              <a:spcAft>
                <a:spcPts val="700"/>
              </a:spcAft>
              <a:defRPr sz="1450">
                <a:solidFill>
                  <a:srgbClr val="111827"/>
                </a:solidFill>
                <a:latin typeface="Aptos"/>
              </a:defRPr>
            </a:pPr>
            <a:r>
              <a:t>Ruhig: sehr hoher Recall.</a:t>
            </a:r>
          </a:p>
          <a:p>
            <a:pPr>
              <a:spcAft>
                <a:spcPts val="700"/>
              </a:spcAft>
              <a:defRPr sz="1450">
                <a:solidFill>
                  <a:srgbClr val="111827"/>
                </a:solidFill>
                <a:latin typeface="Aptos"/>
              </a:defRPr>
            </a:pPr>
            <a:r>
              <a:t>Klasse 2 trennt harte Bewegungen von echten Stürzen.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F59E0B"/>
                </a:solidFill>
                <a:latin typeface="Aptos"/>
              </a:rPr>
              <a:t>TESTSPLIT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Konfusionsmatrix</a:t>
            </a:r>
          </a:p>
        </p:txBody>
      </p:sp>
      <p:pic>
        <p:nvPicPr>
          <p:cNvPr id="5" name="Picture 4" descr="confusion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65612"/>
            <a:ext cx="5897880" cy="464681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86600" y="1417320"/>
            <a:ext cx="4160520" cy="425196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60920" y="1737360"/>
            <a:ext cx="338328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Aptos"/>
              </a:rPr>
              <a:t>Wichtigste Zahlen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240280"/>
            <a:ext cx="3429000" cy="2514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1.194 von 1.247 Stürzen korrekt.</a:t>
            </a:r>
          </a:p>
          <a:p>
            <a:pPr>
              <a:spcAft>
                <a:spcPts val="7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Nur 5 sturzähnliche Bewegungen als Sturz vorhergesagt.</a:t>
            </a:r>
          </a:p>
          <a:p>
            <a:pPr>
              <a:spcAft>
                <a:spcPts val="7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Hauptproblem: Grenzfälle zwischen Sturz und sturzähnlich OK.</a:t>
            </a:r>
          </a:p>
          <a:p>
            <a:pPr>
              <a:spcAft>
                <a:spcPts val="7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Sicherheitsregeln sollen diese Fälle auffangen.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DC2626"/>
                </a:solidFill>
                <a:latin typeface="Aptos"/>
              </a:rPr>
              <a:t>KI PLUS REGELN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Sicherheitslogik</a:t>
            </a:r>
          </a:p>
        </p:txBody>
      </p:sp>
      <p:pic>
        <p:nvPicPr>
          <p:cNvPr id="5" name="Picture 4" descr="thresholds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12663"/>
            <a:ext cx="6172200" cy="30497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69480" y="1417320"/>
            <a:ext cx="4069080" cy="406908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43800" y="1737360"/>
            <a:ext cx="35204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Aptos"/>
              </a:rPr>
              <a:t>Alarm nur bei Kombination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240280"/>
            <a:ext cx="3337560" cy="2011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111827"/>
                </a:solidFill>
                <a:latin typeface="Aptos"/>
              </a:defRPr>
            </a:pPr>
            <a:r>
              <a:t>Klasse 3 mit hoher Wahrscheinlichkeit</a:t>
            </a:r>
          </a:p>
          <a:p>
            <a:pPr>
              <a:spcAft>
                <a:spcPts val="700"/>
              </a:spcAft>
              <a:defRPr sz="1550">
                <a:solidFill>
                  <a:srgbClr val="111827"/>
                </a:solidFill>
                <a:latin typeface="Aptos"/>
              </a:defRPr>
            </a:pPr>
            <a:r>
              <a:t>starker Impact</a:t>
            </a:r>
          </a:p>
          <a:p>
            <a:pPr>
              <a:spcAft>
                <a:spcPts val="700"/>
              </a:spcAft>
              <a:defRPr sz="1550">
                <a:solidFill>
                  <a:srgbClr val="111827"/>
                </a:solidFill>
                <a:latin typeface="Aptos"/>
              </a:defRPr>
            </a:pPr>
            <a:r>
              <a:t>wenig Bewegung danach</a:t>
            </a:r>
          </a:p>
          <a:p>
            <a:pPr>
              <a:spcAft>
                <a:spcPts val="700"/>
              </a:spcAft>
              <a:defRPr sz="1550">
                <a:solidFill>
                  <a:srgbClr val="111827"/>
                </a:solidFill>
                <a:latin typeface="Aptos"/>
              </a:defRPr>
            </a:pPr>
            <a:r>
              <a:t>mindestens zwei bestätigte Fenster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4800600"/>
            <a:ext cx="32461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ptos"/>
              </a:rPr>
              <a:t>Das verhindert, dass einzelne Peaks sofort einen Notfall auslösen.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0D9488"/>
                </a:solidFill>
                <a:latin typeface="Aptos"/>
              </a:rPr>
              <a:t>SIMULATIONEN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Testmodus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2331720" cy="114300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D9488"/>
                </a:solidFill>
                <a:latin typeface="Aptos"/>
              </a:rPr>
              <a:t>Echter Sturz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20240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ptos"/>
              </a:rPr>
              <a:t>Alarm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25880"/>
            <a:ext cx="2331720" cy="114300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75887" y="1490472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D9488"/>
                </a:solidFill>
                <a:latin typeface="Aptos"/>
              </a:rPr>
              <a:t>Rempler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1920240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ptos"/>
              </a:rPr>
              <a:t>kein Sturz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325880"/>
            <a:ext cx="2331720" cy="114300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490472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D9488"/>
                </a:solidFill>
                <a:latin typeface="Aptos"/>
              </a:rPr>
              <a:t>Gehen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920240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ptos"/>
              </a:rPr>
              <a:t>Normal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999" y="1325880"/>
            <a:ext cx="2331720" cy="114300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53727" y="1490472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D9488"/>
                </a:solidFill>
                <a:latin typeface="Aptos"/>
              </a:rPr>
              <a:t>Joggen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7" y="1920240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ptos"/>
              </a:rPr>
              <a:t>Normal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017520"/>
            <a:ext cx="2331720" cy="114300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182112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D9488"/>
                </a:solidFill>
                <a:latin typeface="Aptos"/>
              </a:rPr>
              <a:t>Handy fällt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611879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ptos"/>
              </a:rPr>
              <a:t>Verdächtig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3017520"/>
            <a:ext cx="2331720" cy="114300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75887" y="3182112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D9488"/>
                </a:solidFill>
                <a:latin typeface="Aptos"/>
              </a:rPr>
              <a:t>Stolpern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7" y="3611879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ptos"/>
              </a:rPr>
              <a:t>Grenzfall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3017520"/>
            <a:ext cx="2331720" cy="114300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7" y="3182112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D9488"/>
                </a:solidFill>
                <a:latin typeface="Aptos"/>
              </a:rPr>
              <a:t>Treppe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3611879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ptos"/>
              </a:rPr>
              <a:t>Normal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3999" y="3017520"/>
            <a:ext cx="2331720" cy="114300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53727" y="3182112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D9488"/>
                </a:solidFill>
                <a:latin typeface="Aptos"/>
              </a:rPr>
              <a:t>Sturz low/high rot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7" y="3611879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ptos"/>
              </a:rPr>
              <a:t>Alarmtest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4800600"/>
            <a:ext cx="102870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3000" y="5029200"/>
            <a:ext cx="992124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Aptos"/>
              </a:rPr>
              <a:t>Der Testmodus zeigt erwartetes Ergebnis, KI-Sturzwahrscheinlichkeit, Sicherheitsregel und Gesamtbewertung.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Aptos"/>
              </a:rPr>
              <a:t>VOM TRAINING IN DIE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84708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54480"/>
            <a:ext cx="162763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7C3AED"/>
                </a:solidFill>
                <a:latin typeface="Aptos"/>
              </a:rPr>
              <a:t>Keras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92808"/>
            <a:ext cx="160934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.keras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1810512"/>
            <a:ext cx="256032" cy="219456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26080" y="1417320"/>
            <a:ext cx="184708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5808" y="1554480"/>
            <a:ext cx="162763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7C3AED"/>
                </a:solidFill>
                <a:latin typeface="Aptos"/>
              </a:rPr>
              <a:t>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1892808"/>
            <a:ext cx="160934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.tflite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00600" y="1810512"/>
            <a:ext cx="256032" cy="219456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66360" y="1417320"/>
            <a:ext cx="184708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76088" y="1554480"/>
            <a:ext cx="162763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7C3AED"/>
                </a:solidFill>
                <a:latin typeface="Aptos"/>
              </a:rPr>
              <a:t>Assets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1892808"/>
            <a:ext cx="160934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Modell + Metadata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40880" y="1810512"/>
            <a:ext cx="256032" cy="219456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06640" y="1417320"/>
            <a:ext cx="184708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16368" y="1554480"/>
            <a:ext cx="162763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7C3AED"/>
                </a:solidFill>
                <a:latin typeface="Aptos"/>
              </a:rPr>
              <a:t>Android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1892808"/>
            <a:ext cx="160934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Interpreter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81160" y="1810512"/>
            <a:ext cx="256032" cy="219456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46920" y="1417320"/>
            <a:ext cx="184708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56648" y="1554480"/>
            <a:ext cx="162763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7C3AED"/>
                </a:solidFill>
                <a:latin typeface="Aptos"/>
              </a:rPr>
              <a:t>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1892808"/>
            <a:ext cx="160934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Aptos"/>
              </a:rPr>
              <a:t>Ergebnis + Alarm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2971800"/>
            <a:ext cx="1060704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3246120"/>
            <a:ext cx="10012680" cy="1783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Das App-Modell liegt als fall_detection_real_150x6_float32.tflite in app/src/main/assets.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metadata.json speichert Mean und Standardabweichung für die identische Normalisierung.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Die Inferenz läuft lokal auf dem Gerät und benötigt keine Cloud-Verbindung.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F59E0B"/>
                </a:solidFill>
                <a:latin typeface="Aptos"/>
              </a:rPr>
              <a:t>WEITERENTWICKLUNG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Grenzen und Ausblick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4983480" cy="448056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206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900" b="1">
                <a:solidFill>
                  <a:srgbClr val="F59E0B"/>
                </a:solidFill>
                <a:latin typeface="Aptos"/>
              </a:rPr>
              <a:t>Aktuelle Grenzen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023360" cy="2560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Notruf ist simuliert.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Keine dauerhafte Hintergrundüberwachung.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Noch keine echte Nutzerstudie.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Datensätze kommen aus verschiedenen Labor-Setups.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4983480" cy="448056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554480"/>
            <a:ext cx="4206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Nächste Schritte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03120"/>
            <a:ext cx="4023360" cy="2560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mehr eigene Smartphone-Daten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Background Service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Kontakt-/Notrufintegration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Vergleich mit LSTM/GRU/Transformer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5029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KERNAUSSAGE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Aptos"/>
              </a:rPr>
              <a:t>Fazit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417320"/>
            <a:ext cx="10287000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17320" y="1828800"/>
            <a:ext cx="9372600" cy="3154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Das Projekt ist durchgängig umgesetzt: Datenaufbereitung, Training, TFLite-Export und Android-App.</a:t>
            </a:r>
          </a:p>
          <a:p>
            <a:pPr>
              <a:spcAft>
                <a:spcPts val="7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Das 1D-CNN erreicht eine starke Testleistung und ist klein genug für lokale Smartphone-Inferenz.</a:t>
            </a:r>
          </a:p>
          <a:p>
            <a:pPr>
              <a:spcAft>
                <a:spcPts val="7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Die App kombiniert KI-Ausgabe mit Sicherheitsregeln, um Fehlalarme zu reduzieren.</a:t>
            </a:r>
          </a:p>
          <a:p>
            <a:pPr>
              <a:spcAft>
                <a:spcPts val="7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Damit ist SturzDetektion eine lauffähige Grundlage für KI-basierte Sturzerkennung im Alltag.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799</Words>
  <Application>Microsoft Macintosh PowerPoint</Application>
  <PresentationFormat>Breitbild</PresentationFormat>
  <Paragraphs>261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Arne Steinbauer</cp:lastModifiedBy>
  <cp:revision>1</cp:revision>
  <dcterms:created xsi:type="dcterms:W3CDTF">2013-01-27T09:14:16Z</dcterms:created>
  <dcterms:modified xsi:type="dcterms:W3CDTF">2026-06-24T19:26:41Z</dcterms:modified>
  <cp:category/>
</cp:coreProperties>
</file>