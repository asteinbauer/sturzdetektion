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g1" Type="http://schemas.openxmlformats.org/officeDocument/2006/relationships/image" Target="../media/image_accuracy.png"/><Relationship Id="rIdImg2" Type="http://schemas.openxmlformats.org/officeDocument/2006/relationships/image" Target="../media/image_loss.png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g1" Type="http://schemas.openxmlformats.org/officeDocument/2006/relationships/image" Target="../media/image_cm.png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TopLine"/>
          <p:cNvSpPr/>
          <p:nvPr/>
        </p:nvSpPr>
        <p:spPr>
          <a:xfrm>
            <a:off x="0" y="0"/>
            <a:ext cx="12192000" cy="115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360000" y="558000"/>
            <a:ext cx="648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5400" dirty="0" b="1">
                <a:solidFill>
                  <a:srgbClr val="17212B"/>
                </a:solidFill>
                <a:latin typeface="Aptos"/>
              </a:rPr>
              <a:t>SturzDetektion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378000" y="1080000"/>
            <a:ext cx="6480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500" dirty="0" b="0">
                <a:solidFill>
                  <a:srgbClr val="5B6673"/>
                </a:solidFill>
                <a:latin typeface="Aptos"/>
              </a:rPr>
              <a:t>KI-basierte Sturzerkennung mit Android-App und 1D-CNN</a:t>
            </a:r>
          </a:p>
        </p:txBody>
      </p:sp>
      <p:sp>
        <p:nvSpPr>
          <p:cNvPr id="6" name="Card"/>
          <p:cNvSpPr/>
          <p:nvPr/>
        </p:nvSpPr>
        <p:spPr>
          <a:xfrm>
            <a:off x="378000" y="1602000"/>
            <a:ext cx="1692000" cy="486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450000" y="1648800"/>
            <a:ext cx="1512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700" dirty="0" b="1">
                <a:solidFill>
                  <a:srgbClr val="2563EB"/>
                </a:solidFill>
                <a:latin typeface="Aptos"/>
              </a:rPr>
              <a:t>150x6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450000" y="1818000"/>
            <a:ext cx="1512000" cy="162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50" dirty="0" b="0">
                <a:solidFill>
                  <a:srgbClr val="5B6673"/>
                </a:solidFill>
                <a:latin typeface="Aptos"/>
              </a:rPr>
              <a:t>Input</a:t>
            </a:r>
          </a:p>
        </p:txBody>
      </p:sp>
      <p:sp>
        <p:nvSpPr>
          <p:cNvPr id="9" name="Card"/>
          <p:cNvSpPr/>
          <p:nvPr/>
        </p:nvSpPr>
        <p:spPr>
          <a:xfrm>
            <a:off x="2322000" y="1602000"/>
            <a:ext cx="1692000" cy="486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2394000" y="1648800"/>
            <a:ext cx="1512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700" dirty="0" b="1">
                <a:solidFill>
                  <a:srgbClr val="2563EB"/>
                </a:solidFill>
                <a:latin typeface="Aptos"/>
              </a:rPr>
              <a:t>1D-CNN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394000" y="1818000"/>
            <a:ext cx="1512000" cy="162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50" dirty="0" b="0">
                <a:solidFill>
                  <a:srgbClr val="5B6673"/>
                </a:solidFill>
                <a:latin typeface="Aptos"/>
              </a:rPr>
              <a:t>Modell</a:t>
            </a:r>
          </a:p>
        </p:txBody>
      </p:sp>
      <p:sp>
        <p:nvSpPr>
          <p:cNvPr id="12" name="Card"/>
          <p:cNvSpPr/>
          <p:nvPr/>
        </p:nvSpPr>
        <p:spPr>
          <a:xfrm>
            <a:off x="4266000" y="1602000"/>
            <a:ext cx="1692000" cy="486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4338000" y="1648800"/>
            <a:ext cx="1512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700" dirty="0" b="1">
                <a:solidFill>
                  <a:srgbClr val="2563EB"/>
                </a:solidFill>
                <a:latin typeface="Aptos"/>
              </a:rPr>
              <a:t>93,97 %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338000" y="1818000"/>
            <a:ext cx="1512000" cy="162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50" dirty="0" b="0">
                <a:solidFill>
                  <a:srgbClr val="5B6673"/>
                </a:solidFill>
                <a:latin typeface="Aptos"/>
              </a:rPr>
              <a:t>Test Accuracy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78000" y="2250000"/>
            <a:ext cx="6480000" cy="162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400" dirty="0" b="0">
                <a:solidFill>
                  <a:srgbClr val="5B6673"/>
                </a:solidFill>
                <a:latin typeface="Aptos"/>
              </a:rPr>
              <a:t>Abschlusspräsentation | Universität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Problem und Ziel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22000"/>
            <a:ext cx="6300000" cy="17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Stürze können im Alltag schwerwiegende Folgen haben, besonders wenn Hilfe verzögert eintrifft.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Ziel: Bewegungsdaten direkt auf dem Smartphone auswerten und kritische Situationen erkennen.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Die App kombiniert neuronales Netz, Sensorlogik und Notfall-Countdown.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Wichtig: nicht nur Stürze erkennen, sondern Fehlalarme durch Alltagssituationen reduzieren.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0F9F8F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Projektüberblick</a:t>
            </a:r>
          </a:p>
        </p:txBody>
      </p:sp>
      <p:sp>
        <p:nvSpPr>
          <p:cNvPr id="5" name="Card"/>
          <p:cNvSpPr/>
          <p:nvPr/>
        </p:nvSpPr>
        <p:spPr>
          <a:xfrm>
            <a:off x="342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399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0F9F8F"/>
                </a:solidFill>
                <a:latin typeface="Aptos"/>
              </a:rPr>
              <a:t>Smartphone-Sensoren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99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Beschleunigung + Gyroskop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2800" y="892800"/>
            <a:ext cx="162000" cy="1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300" dirty="0" b="1">
                <a:solidFill>
                  <a:srgbClr val="0F9F8F"/>
                </a:solidFill>
                <a:latin typeface="Aptos"/>
              </a:rPr>
              <a:t>→</a:t>
            </a:r>
          </a:p>
        </p:txBody>
      </p:sp>
      <p:sp>
        <p:nvSpPr>
          <p:cNvPr id="9" name="Card"/>
          <p:cNvSpPr/>
          <p:nvPr/>
        </p:nvSpPr>
        <p:spPr>
          <a:xfrm>
            <a:off x="1620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677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0F9F8F"/>
                </a:solidFill>
                <a:latin typeface="Aptos"/>
              </a:rPr>
              <a:t>Datenfenster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677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150 Samples, 6 Kanäle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710800" y="892800"/>
            <a:ext cx="162000" cy="1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300" dirty="0" b="1">
                <a:solidFill>
                  <a:srgbClr val="0F9F8F"/>
                </a:solidFill>
                <a:latin typeface="Aptos"/>
              </a:rPr>
              <a:t>→</a:t>
            </a:r>
          </a:p>
        </p:txBody>
      </p:sp>
      <p:sp>
        <p:nvSpPr>
          <p:cNvPr id="13" name="Card"/>
          <p:cNvSpPr/>
          <p:nvPr/>
        </p:nvSpPr>
        <p:spPr>
          <a:xfrm>
            <a:off x="2898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2955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0F9F8F"/>
                </a:solidFill>
                <a:latin typeface="Aptos"/>
              </a:rPr>
              <a:t>1D-CNN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955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4 Klassen mit Wahrscheinlichkeiten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3988800" y="892800"/>
            <a:ext cx="162000" cy="1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300" dirty="0" b="1">
                <a:solidFill>
                  <a:srgbClr val="0F9F8F"/>
                </a:solidFill>
                <a:latin typeface="Aptos"/>
              </a:rPr>
              <a:t>→</a:t>
            </a:r>
          </a:p>
        </p:txBody>
      </p:sp>
      <p:sp>
        <p:nvSpPr>
          <p:cNvPr id="17" name="Card"/>
          <p:cNvSpPr/>
          <p:nvPr/>
        </p:nvSpPr>
        <p:spPr>
          <a:xfrm>
            <a:off x="4176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4233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0F9F8F"/>
                </a:solidFill>
                <a:latin typeface="Aptos"/>
              </a:rPr>
              <a:t>Sicherheitsregeln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233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Impact, Stillstand, Mehrfachfenster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266800" y="892800"/>
            <a:ext cx="162000" cy="1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300" dirty="0" b="1">
                <a:solidFill>
                  <a:srgbClr val="0F9F8F"/>
                </a:solidFill>
                <a:latin typeface="Aptos"/>
              </a:rPr>
              <a:t>→</a:t>
            </a:r>
          </a:p>
        </p:txBody>
      </p:sp>
      <p:sp>
        <p:nvSpPr>
          <p:cNvPr id="21" name="Card"/>
          <p:cNvSpPr/>
          <p:nvPr/>
        </p:nvSpPr>
        <p:spPr>
          <a:xfrm>
            <a:off x="5454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5511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0F9F8F"/>
                </a:solidFill>
                <a:latin typeface="Aptos"/>
              </a:rPr>
              <a:t>App-Reaktion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511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Status, Warnung, Countdown</a:t>
            </a:r>
          </a:p>
        </p:txBody>
      </p:sp>
      <p:sp>
        <p:nvSpPr>
          <p:cNvPr id="24" name="Bullets"/>
          <p:cNvSpPr txBox="1"/>
          <p:nvPr/>
        </p:nvSpPr>
        <p:spPr>
          <a:xfrm>
            <a:off x="360000" y="1692000"/>
            <a:ext cx="622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050" dirty="0" b="0">
                <a:solidFill>
                  <a:srgbClr val="17212B"/>
                </a:solidFill>
                <a:latin typeface="Aptos"/>
              </a:rPr>
              <a:t>Jeder Schritt ist im Projekt implementiert: Dataset-Script, Trainingsscript, TFLite-Export und Android-Laufzeitlogik.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Android-App: Aufbau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22000"/>
            <a:ext cx="6300000" cy="17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Native Android-App in Java mit AppCompat und Material Components.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TensorFlow Lite Runtime lädt das trainierte Modell aus den App-Assets.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MainActivity übernimmt UI, Sensor-Listener, Ringbuffer, Inferenz und Notfallablauf.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Min SDK 26, Target/Compile SDK 36, Modell-Dateien werden nicht komprimiert.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Zentrale App-Funktionen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22000"/>
            <a:ext cx="6300000" cy="17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Überwachung starten/stoppen: Live-Erfassung von Accelerometer und Gyroscope.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Dashboard: Sensorquelle, Modellstatus, Erkennungsmodus, letzte Aktivität.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Klassenwahrscheinlichkeiten: sichtbare Prozentwerte für alle 4 Klassen.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Testmodus: simulierte Szenarien wie Sturz, Rempler, Joggen, Stolpern oder Handy fällt.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Notfall-Countdown: 30 Sekunden, abbrechbar über „Mir geht es gut“, manuelle Hilfe-Auslösung möglich.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0F9F8F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Sensorik und Datenfenster</a:t>
            </a:r>
          </a:p>
        </p:txBody>
      </p:sp>
      <p:sp>
        <p:nvSpPr>
          <p:cNvPr id="5" name="Card"/>
          <p:cNvSpPr/>
          <p:nvPr/>
        </p:nvSpPr>
        <p:spPr>
          <a:xfrm>
            <a:off x="30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34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0F9F8F"/>
                </a:solidFill>
                <a:latin typeface="Aptos"/>
              </a:rPr>
              <a:t>150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4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Samples</a:t>
            </a:r>
          </a:p>
        </p:txBody>
      </p:sp>
      <p:sp>
        <p:nvSpPr>
          <p:cNvPr id="8" name="Card"/>
          <p:cNvSpPr/>
          <p:nvPr/>
        </p:nvSpPr>
        <p:spPr>
          <a:xfrm>
            <a:off x="192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196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0F9F8F"/>
                </a:solidFill>
                <a:latin typeface="Aptos"/>
              </a:rPr>
              <a:t>6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96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Kanäle</a:t>
            </a:r>
          </a:p>
        </p:txBody>
      </p:sp>
      <p:sp>
        <p:nvSpPr>
          <p:cNvPr id="11" name="Card"/>
          <p:cNvSpPr/>
          <p:nvPr/>
        </p:nvSpPr>
        <p:spPr>
          <a:xfrm>
            <a:off x="354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358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0F9F8F"/>
                </a:solidFill>
                <a:latin typeface="Aptos"/>
              </a:rPr>
              <a:t>3,0 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58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Fenster</a:t>
            </a:r>
          </a:p>
        </p:txBody>
      </p:sp>
      <p:sp>
        <p:nvSpPr>
          <p:cNvPr id="14" name="Card"/>
          <p:cNvSpPr/>
          <p:nvPr/>
        </p:nvSpPr>
        <p:spPr>
          <a:xfrm>
            <a:off x="516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520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0F9F8F"/>
                </a:solidFill>
                <a:latin typeface="Aptos"/>
              </a:rPr>
              <a:t>400 ms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20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Inferenzintervall</a:t>
            </a:r>
          </a:p>
        </p:txBody>
      </p:sp>
      <p:sp>
        <p:nvSpPr>
          <p:cNvPr id="17" name="Bullets"/>
          <p:cNvSpPr txBox="1"/>
          <p:nvPr/>
        </p:nvSpPr>
        <p:spPr>
          <a:xfrm>
            <a:off x="342000" y="917999"/>
            <a:ext cx="6300000" cy="12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Eingangsdaten: ax, ay, az vom Beschleunigungssensor und gx, gy, gz vom Gyroskop.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Fenstergröße: 150 Samples = 3,0 Sekunden bei 50 Hz.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Ringbuffer speichert laufend das aktuellste Bewegungsfenster.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Live-Inferenz läuft alle 400 ms, sobald ein vollständiges Fenster vorhanden ist.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Vor der Inferenz nutzt Android dieselbe Normalisierung wie im Training.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Datengrundlage</a:t>
            </a:r>
          </a:p>
        </p:txBody>
      </p:sp>
      <p:sp>
        <p:nvSpPr>
          <p:cNvPr id="5" name="Card"/>
          <p:cNvSpPr/>
          <p:nvPr/>
        </p:nvSpPr>
        <p:spPr>
          <a:xfrm>
            <a:off x="30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34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2563EB"/>
                </a:solidFill>
                <a:latin typeface="Aptos"/>
              </a:rPr>
              <a:t>35.749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4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Fenster</a:t>
            </a:r>
          </a:p>
        </p:txBody>
      </p:sp>
      <p:sp>
        <p:nvSpPr>
          <p:cNvPr id="8" name="Card"/>
          <p:cNvSpPr/>
          <p:nvPr/>
        </p:nvSpPr>
        <p:spPr>
          <a:xfrm>
            <a:off x="192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196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2563EB"/>
                </a:solidFill>
                <a:latin typeface="Aptos"/>
              </a:rPr>
              <a:t>60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96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Train-Subjects</a:t>
            </a:r>
          </a:p>
        </p:txBody>
      </p:sp>
      <p:sp>
        <p:nvSpPr>
          <p:cNvPr id="11" name="Card"/>
          <p:cNvSpPr/>
          <p:nvPr/>
        </p:nvSpPr>
        <p:spPr>
          <a:xfrm>
            <a:off x="354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358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2563EB"/>
                </a:solidFill>
                <a:latin typeface="Aptos"/>
              </a:rPr>
              <a:t>15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58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Val-Subjects</a:t>
            </a:r>
          </a:p>
        </p:txBody>
      </p:sp>
      <p:sp>
        <p:nvSpPr>
          <p:cNvPr id="14" name="Card"/>
          <p:cNvSpPr/>
          <p:nvPr/>
        </p:nvSpPr>
        <p:spPr>
          <a:xfrm>
            <a:off x="516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520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2563EB"/>
                </a:solidFill>
                <a:latin typeface="Aptos"/>
              </a:rPr>
              <a:t>10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20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Test-Subjects</a:t>
            </a:r>
          </a:p>
        </p:txBody>
      </p:sp>
      <p:sp>
        <p:nvSpPr>
          <p:cNvPr id="17" name="Bullets"/>
          <p:cNvSpPr txBox="1"/>
          <p:nvPr/>
        </p:nvSpPr>
        <p:spPr>
          <a:xfrm>
            <a:off x="342000" y="917999"/>
            <a:ext cx="6300000" cy="12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Verwendete öffentliche Datensätze: SisFall, UniMiB und UP-Fall.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Alle Daten werden auf 50 Hz gebracht und in ein gemeinsames Format 150 x 6 überführt.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Nach Balancing: 35.749 Fenster insgesamt.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Klassen: ruhiger Alltag, normale Bewegung, sturzähnlich aber OK, Sturz.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Personenbasierter Split verhindert, dass dieselbe Person in Train und Test auftaucht.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Datenpipeline</a:t>
            </a:r>
          </a:p>
        </p:txBody>
      </p:sp>
      <p:sp>
        <p:nvSpPr>
          <p:cNvPr id="5" name="Card"/>
          <p:cNvSpPr/>
          <p:nvPr/>
        </p:nvSpPr>
        <p:spPr>
          <a:xfrm>
            <a:off x="342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399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F59E0B"/>
                </a:solidFill>
                <a:latin typeface="Aptos"/>
              </a:rPr>
              <a:t>Rohdaten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99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SisFall, UniMiB, UP-Fall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2800" y="892800"/>
            <a:ext cx="162000" cy="1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300" dirty="0" b="1">
                <a:solidFill>
                  <a:srgbClr val="F59E0B"/>
                </a:solidFill>
                <a:latin typeface="Aptos"/>
              </a:rPr>
              <a:t>→</a:t>
            </a:r>
          </a:p>
        </p:txBody>
      </p:sp>
      <p:sp>
        <p:nvSpPr>
          <p:cNvPr id="9" name="Card"/>
          <p:cNvSpPr/>
          <p:nvPr/>
        </p:nvSpPr>
        <p:spPr>
          <a:xfrm>
            <a:off x="1620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677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F59E0B"/>
                </a:solidFill>
                <a:latin typeface="Aptos"/>
              </a:rPr>
              <a:t>Resampling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677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einheitlich 50 Hz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710800" y="892800"/>
            <a:ext cx="162000" cy="1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300" dirty="0" b="1">
                <a:solidFill>
                  <a:srgbClr val="F59E0B"/>
                </a:solidFill>
                <a:latin typeface="Aptos"/>
              </a:rPr>
              <a:t>→</a:t>
            </a:r>
          </a:p>
        </p:txBody>
      </p:sp>
      <p:sp>
        <p:nvSpPr>
          <p:cNvPr id="13" name="Card"/>
          <p:cNvSpPr/>
          <p:nvPr/>
        </p:nvSpPr>
        <p:spPr>
          <a:xfrm>
            <a:off x="2898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2955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F59E0B"/>
                </a:solidFill>
                <a:latin typeface="Aptos"/>
              </a:rPr>
              <a:t>Fensterung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955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Sliding + Impact-Windows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3988800" y="892800"/>
            <a:ext cx="162000" cy="1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300" dirty="0" b="1">
                <a:solidFill>
                  <a:srgbClr val="F59E0B"/>
                </a:solidFill>
                <a:latin typeface="Aptos"/>
              </a:rPr>
              <a:t>→</a:t>
            </a:r>
          </a:p>
        </p:txBody>
      </p:sp>
      <p:sp>
        <p:nvSpPr>
          <p:cNvPr id="17" name="Card"/>
          <p:cNvSpPr/>
          <p:nvPr/>
        </p:nvSpPr>
        <p:spPr>
          <a:xfrm>
            <a:off x="4176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4233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F59E0B"/>
                </a:solidFill>
                <a:latin typeface="Aptos"/>
              </a:rPr>
              <a:t>Balancing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233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max. 10.000 je Klasse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266800" y="892800"/>
            <a:ext cx="162000" cy="18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300" dirty="0" b="1">
                <a:solidFill>
                  <a:srgbClr val="F59E0B"/>
                </a:solidFill>
                <a:latin typeface="Aptos"/>
              </a:rPr>
              <a:t>→</a:t>
            </a:r>
          </a:p>
        </p:txBody>
      </p:sp>
      <p:sp>
        <p:nvSpPr>
          <p:cNvPr id="21" name="Card"/>
          <p:cNvSpPr/>
          <p:nvPr/>
        </p:nvSpPr>
        <p:spPr>
          <a:xfrm>
            <a:off x="5454000" y="720000"/>
            <a:ext cx="1080000" cy="558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5511600" y="784800"/>
            <a:ext cx="954000" cy="1368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500" dirty="0" b="1">
                <a:solidFill>
                  <a:srgbClr val="F59E0B"/>
                </a:solidFill>
                <a:latin typeface="Aptos"/>
              </a:rPr>
              <a:t>Normalisierung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511600" y="964800"/>
            <a:ext cx="954000" cy="19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50" dirty="0" b="0">
                <a:solidFill>
                  <a:srgbClr val="5B6673"/>
                </a:solidFill>
                <a:latin typeface="Aptos"/>
              </a:rPr>
              <a:t>Mean/Std pro Kanal</a:t>
            </a:r>
          </a:p>
        </p:txBody>
      </p:sp>
      <p:sp>
        <p:nvSpPr>
          <p:cNvPr id="24" name="Bullets"/>
          <p:cNvSpPr txBox="1"/>
          <p:nvPr/>
        </p:nvSpPr>
        <p:spPr>
          <a:xfrm>
            <a:off x="360000" y="1692000"/>
            <a:ext cx="622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050" dirty="0" b="0">
                <a:solidFill>
                  <a:srgbClr val="17212B"/>
                </a:solidFill>
                <a:latin typeface="Aptos"/>
              </a:rPr>
              <a:t>Jeder Schritt ist im Projekt implementiert: Dataset-Script, Trainingsscript, TFLite-Export und Android-Laufzeitlogik.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0F9F8F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Klassendefinition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22000"/>
            <a:ext cx="6300000" cy="17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0 Ruhiger Alltag: kaum Bewegung und unkritische Zustände.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1 Normale Bewegung: Gehen, Joggen, Treppen, Sitzen und ähnliche Aktivitäten.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2 Sturzähnlich, aber OK: starke oder ungewöhnliche Bewegungen ohne echten Sturz.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3 Sturz: Ereignisse mit Impact und anschließend kritischem Bewegungsmuster.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Die zusätzliche Klasse 2 ist wichtig, weil sie Fehlalarme von sturzähnlichen Alltagssituationen abfangen soll.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Neuronales Netz: Architektur</a:t>
            </a:r>
          </a:p>
        </p:txBody>
      </p:sp>
      <p:sp>
        <p:nvSpPr>
          <p:cNvPr id="5" name="Card"/>
          <p:cNvSpPr/>
          <p:nvPr/>
        </p:nvSpPr>
        <p:spPr>
          <a:xfrm>
            <a:off x="30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34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DC2626"/>
                </a:solidFill>
                <a:latin typeface="Aptos"/>
              </a:rPr>
              <a:t>1D-CNN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4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Modell</a:t>
            </a:r>
          </a:p>
        </p:txBody>
      </p:sp>
      <p:sp>
        <p:nvSpPr>
          <p:cNvPr id="8" name="Card"/>
          <p:cNvSpPr/>
          <p:nvPr/>
        </p:nvSpPr>
        <p:spPr>
          <a:xfrm>
            <a:off x="192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196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DC2626"/>
                </a:solidFill>
                <a:latin typeface="Aptos"/>
              </a:rPr>
              <a:t>112.516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96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Parameter</a:t>
            </a:r>
          </a:p>
        </p:txBody>
      </p:sp>
      <p:sp>
        <p:nvSpPr>
          <p:cNvPr id="11" name="Card"/>
          <p:cNvSpPr/>
          <p:nvPr/>
        </p:nvSpPr>
        <p:spPr>
          <a:xfrm>
            <a:off x="354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358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DC2626"/>
                </a:solidFill>
                <a:latin typeface="Aptos"/>
              </a:rPr>
              <a:t>4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58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Klassen</a:t>
            </a:r>
          </a:p>
        </p:txBody>
      </p:sp>
      <p:sp>
        <p:nvSpPr>
          <p:cNvPr id="14" name="Card"/>
          <p:cNvSpPr/>
          <p:nvPr/>
        </p:nvSpPr>
        <p:spPr>
          <a:xfrm>
            <a:off x="516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520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DC2626"/>
                </a:solidFill>
                <a:latin typeface="Aptos"/>
              </a:rPr>
              <a:t>439 KB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20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Keras-Größe ca.</a:t>
            </a:r>
          </a:p>
        </p:txBody>
      </p:sp>
      <p:sp>
        <p:nvSpPr>
          <p:cNvPr id="17" name="Bullets"/>
          <p:cNvSpPr txBox="1"/>
          <p:nvPr/>
        </p:nvSpPr>
        <p:spPr>
          <a:xfrm>
            <a:off x="342000" y="917999"/>
            <a:ext cx="6300000" cy="12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Modelltyp: 1D Convolutional Neural Network für Zeitreihen.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Input: 150 x 6 Sensorwerte pro Bewegungsfenster.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Vier Conv1D-Blöcke mit Batch Normalization, ReLU, Pooling und Spatial Dropout.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Global Average Pooling und Global Max Pooling fassen die Zeitachse robust zusammen.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Dense-Layer mit 96 Neuronen und Softmax-Ausgabe für 4 Klassen.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112.516 Parameter, davon 111.620 trainierbar.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Training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22000"/>
            <a:ext cx="2880000" cy="17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900" dirty="0" b="0">
                <a:solidFill>
                  <a:srgbClr val="17212B"/>
                </a:solidFill>
                <a:latin typeface="Aptos"/>
              </a:rPr>
              <a:t>Framework: TensorFlow 2.21.0, Export zusätzlich als TensorFlow Lite.</a:t>
            </a:r>
          </a:p>
          <a:p>
            <a:pPr marL="285750" indent="-171450">
              <a:buChar char="•"/>
            </a:pPr>
            <a:r>
              <a:rPr lang="de-DE" sz="1900" dirty="0" b="0">
                <a:solidFill>
                  <a:srgbClr val="17212B"/>
                </a:solidFill>
                <a:latin typeface="Aptos"/>
              </a:rPr>
              <a:t>Train/Validation/Test: 25.435 / 5.652 / 4.662 Fenster.</a:t>
            </a:r>
          </a:p>
          <a:p>
            <a:pPr marL="285750" indent="-171450">
              <a:buChar char="•"/>
            </a:pPr>
            <a:r>
              <a:rPr lang="de-DE" sz="1900" dirty="0" b="0">
                <a:solidFill>
                  <a:srgbClr val="17212B"/>
                </a:solidFill>
                <a:latin typeface="Aptos"/>
              </a:rPr>
              <a:t>Training mit Class Weights gegen Klassenungleichgewicht.</a:t>
            </a:r>
          </a:p>
          <a:p>
            <a:pPr marL="285750" indent="-171450">
              <a:buChar char="•"/>
            </a:pPr>
            <a:r>
              <a:rPr lang="de-DE" sz="1900" dirty="0" b="0">
                <a:solidFill>
                  <a:srgbClr val="17212B"/>
                </a:solidFill>
                <a:latin typeface="Aptos"/>
              </a:rPr>
              <a:t>Augmentation: Rauschen, leichte Skalierung, Gyro-Dropout und Zeitverschiebung.</a:t>
            </a:r>
          </a:p>
          <a:p>
            <a:pPr marL="285750" indent="-171450">
              <a:buChar char="•"/>
            </a:pPr>
            <a:r>
              <a:rPr lang="de-DE" sz="1900" dirty="0" b="0">
                <a:solidFill>
                  <a:srgbClr val="17212B"/>
                </a:solidFill>
                <a:latin typeface="Aptos"/>
              </a:rPr>
              <a:t>Ziel: robuste Erkennung trotz unterschiedlicher Personen, Geräte und Bewegungsabläufe.</a:t>
            </a:r>
          </a:p>
        </p:txBody>
      </p:sp>
      <p:pic>
        <p:nvPicPr>
          <p:cNvPr id="6" name="accuracy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3384000" y="558000"/>
            <a:ext cx="1655999" cy="1260000"/>
          </a:xfrm>
          <a:prstGeom prst="rect">
            <a:avLst/>
          </a:prstGeom>
          <a:ln>
            <a:noFill/>
          </a:ln>
        </p:spPr>
      </p:pic>
      <p:pic>
        <p:nvPicPr>
          <p:cNvPr id="7" name="loss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5094000" y="558000"/>
            <a:ext cx="1655999" cy="1260000"/>
          </a:xfrm>
          <a:prstGeom prst="rect">
            <a:avLst/>
          </a:prstGeom>
          <a:ln>
            <a:noFill/>
          </a:ln>
        </p:spPr>
      </p:pic>
      <p:sp>
        <p:nvSpPr>
          <p:cNvPr id="8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Testergebnisse</a:t>
            </a:r>
          </a:p>
        </p:txBody>
      </p:sp>
      <p:sp>
        <p:nvSpPr>
          <p:cNvPr id="5" name="Card"/>
          <p:cNvSpPr/>
          <p:nvPr/>
        </p:nvSpPr>
        <p:spPr>
          <a:xfrm>
            <a:off x="30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34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16A34A"/>
                </a:solidFill>
                <a:latin typeface="Aptos"/>
              </a:rPr>
              <a:t>93,97 %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4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Accuracy</a:t>
            </a:r>
          </a:p>
        </p:txBody>
      </p:sp>
      <p:sp>
        <p:nvSpPr>
          <p:cNvPr id="8" name="Card"/>
          <p:cNvSpPr/>
          <p:nvPr/>
        </p:nvSpPr>
        <p:spPr>
          <a:xfrm>
            <a:off x="192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196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16A34A"/>
                </a:solidFill>
                <a:latin typeface="Aptos"/>
              </a:rPr>
              <a:t>99,3 %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96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Sturz Precision</a:t>
            </a:r>
          </a:p>
        </p:txBody>
      </p:sp>
      <p:sp>
        <p:nvSpPr>
          <p:cNvPr id="11" name="Card"/>
          <p:cNvSpPr/>
          <p:nvPr/>
        </p:nvSpPr>
        <p:spPr>
          <a:xfrm>
            <a:off x="354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358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16A34A"/>
                </a:solidFill>
                <a:latin typeface="Aptos"/>
              </a:rPr>
              <a:t>95,7 %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58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Sturz Recall</a:t>
            </a:r>
          </a:p>
        </p:txBody>
      </p:sp>
      <p:sp>
        <p:nvSpPr>
          <p:cNvPr id="14" name="Card"/>
          <p:cNvSpPr/>
          <p:nvPr/>
        </p:nvSpPr>
        <p:spPr>
          <a:xfrm>
            <a:off x="516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520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16A34A"/>
                </a:solidFill>
                <a:latin typeface="Aptos"/>
              </a:rPr>
              <a:t>97,5 %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20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Sturz F1</a:t>
            </a:r>
          </a:p>
        </p:txBody>
      </p:sp>
      <p:sp>
        <p:nvSpPr>
          <p:cNvPr id="17" name="Bullets"/>
          <p:cNvSpPr txBox="1"/>
          <p:nvPr/>
        </p:nvSpPr>
        <p:spPr>
          <a:xfrm>
            <a:off x="342000" y="917999"/>
            <a:ext cx="6300000" cy="12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Test Loss: 0,2292.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Test Accuracy: 93,97 %.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Sturz-Klasse: Precision 99,3 %, Recall 95,7 %, F1 97,5 %.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Normale Bewegung und sturzähnliche Bewegungen werden größtenteils getrennt.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Einige Stürze werden als sturzähnlich aber OK klassifiziert; deshalb ergänzt die App KI mit Sicherheitsregeln.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Konfusionsmatrix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11200"/>
            <a:ext cx="2592000" cy="176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1850" dirty="0" b="0">
                <a:solidFill>
                  <a:srgbClr val="17212B"/>
                </a:solidFill>
                <a:latin typeface="Aptos"/>
              </a:rPr>
              <a:t>Die meisten Sturz-Fenster werden korrekt erkannt: 1.194 von 1.247 im Testsplit.</a:t>
            </a:r>
          </a:p>
          <a:p>
            <a:pPr marL="285750" indent="-171450">
              <a:buChar char="•"/>
            </a:pPr>
            <a:r>
              <a:rPr lang="de-DE" sz="1850" dirty="0" b="0">
                <a:solidFill>
                  <a:srgbClr val="17212B"/>
                </a:solidFill>
                <a:latin typeface="Aptos"/>
              </a:rPr>
              <a:t>Fehler entstehen vor allem zwischen Sturz und sturzähnlich aber OK.</a:t>
            </a:r>
          </a:p>
          <a:p>
            <a:pPr marL="285750" indent="-171450">
              <a:buChar char="•"/>
            </a:pPr>
            <a:r>
              <a:rPr lang="de-DE" sz="1850" dirty="0" b="0">
                <a:solidFill>
                  <a:srgbClr val="17212B"/>
                </a:solidFill>
                <a:latin typeface="Aptos"/>
              </a:rPr>
              <a:t>Ruhiger Alltag hat sehr hohen Recall, aber geringere Precision wegen Verwechslungen aus anderen Klassen.</a:t>
            </a:r>
          </a:p>
          <a:p>
            <a:pPr marL="285750" indent="-171450">
              <a:buChar char="•"/>
            </a:pPr>
            <a:r>
              <a:rPr lang="de-DE" sz="1850" dirty="0" b="0">
                <a:solidFill>
                  <a:srgbClr val="17212B"/>
                </a:solidFill>
                <a:latin typeface="Aptos"/>
              </a:rPr>
              <a:t>Für die App ist deshalb die nachgelagerte Entscheidungslogik genauso relevant wie die reine Modellausgabe.</a:t>
            </a:r>
          </a:p>
        </p:txBody>
      </p:sp>
      <p:pic>
        <p:nvPicPr>
          <p:cNvPr id="6" name="cm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3078000" y="468000"/>
            <a:ext cx="3564000" cy="1835999"/>
          </a:xfrm>
          <a:prstGeom prst="rect">
            <a:avLst/>
          </a:prstGeom>
          <a:ln>
            <a:noFill/>
          </a:ln>
        </p:spPr>
      </p:pic>
      <p:sp>
        <p:nvSpPr>
          <p:cNvPr id="7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Sicherheitslogik in der App</a:t>
            </a:r>
          </a:p>
        </p:txBody>
      </p:sp>
      <p:sp>
        <p:nvSpPr>
          <p:cNvPr id="5" name="Card"/>
          <p:cNvSpPr/>
          <p:nvPr/>
        </p:nvSpPr>
        <p:spPr>
          <a:xfrm>
            <a:off x="30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34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DC2626"/>
                </a:solidFill>
                <a:latin typeface="Aptos"/>
              </a:rPr>
              <a:t>&gt;90 %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34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Sturz-Prob.</a:t>
            </a:r>
          </a:p>
        </p:txBody>
      </p:sp>
      <p:sp>
        <p:nvSpPr>
          <p:cNvPr id="8" name="Card"/>
          <p:cNvSpPr/>
          <p:nvPr/>
        </p:nvSpPr>
        <p:spPr>
          <a:xfrm>
            <a:off x="192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196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DC2626"/>
                </a:solidFill>
                <a:latin typeface="Aptos"/>
              </a:rPr>
              <a:t>&gt;28 m/s²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96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Impact</a:t>
            </a:r>
          </a:p>
        </p:txBody>
      </p:sp>
      <p:sp>
        <p:nvSpPr>
          <p:cNvPr id="11" name="Card"/>
          <p:cNvSpPr/>
          <p:nvPr/>
        </p:nvSpPr>
        <p:spPr>
          <a:xfrm>
            <a:off x="354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358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DC2626"/>
                </a:solidFill>
                <a:latin typeface="Aptos"/>
              </a:rPr>
              <a:t>&lt;1,8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358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Nachbewegung</a:t>
            </a:r>
          </a:p>
        </p:txBody>
      </p:sp>
      <p:sp>
        <p:nvSpPr>
          <p:cNvPr id="14" name="Card"/>
          <p:cNvSpPr/>
          <p:nvPr/>
        </p:nvSpPr>
        <p:spPr>
          <a:xfrm>
            <a:off x="5166000" y="486000"/>
            <a:ext cx="1566000" cy="36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DEE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5209200" y="514800"/>
            <a:ext cx="1479600" cy="1512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2050" dirty="0" b="1">
                <a:solidFill>
                  <a:srgbClr val="DC2626"/>
                </a:solidFill>
                <a:latin typeface="Aptos"/>
              </a:rPr>
              <a:t>2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209200" y="658800"/>
            <a:ext cx="1479600" cy="10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200" dirty="0" b="0">
                <a:solidFill>
                  <a:srgbClr val="5B6673"/>
                </a:solidFill>
                <a:latin typeface="Aptos"/>
              </a:rPr>
              <a:t>Fenster</a:t>
            </a:r>
          </a:p>
        </p:txBody>
      </p:sp>
      <p:sp>
        <p:nvSpPr>
          <p:cNvPr id="17" name="Bullets"/>
          <p:cNvSpPr txBox="1"/>
          <p:nvPr/>
        </p:nvSpPr>
        <p:spPr>
          <a:xfrm>
            <a:off x="342000" y="917999"/>
            <a:ext cx="6300000" cy="129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Ein echter Alarm braucht mehr als nur eine hohe Softmax-Wahrscheinlichkeit.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Sturz-Kandidat: Klasse 3, Sturz-Wahrscheinlichkeit über 90 %, maximale Beschleunigung über 28 m/s².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Nach dem Impact muss die Bewegung niedrig sein: durchschnittliche Nachbewegung unter 1,8.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Mindestens 2 aufeinanderfolgende bestätigte Fenster sind erforderlich.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Klasse 2 mit hoher Wahrscheinlichkeit wird als „Auffällige Bewegung – kein Sturz“ behandelt.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0F9F8F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Deployment und Laufzeit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22000"/>
            <a:ext cx="6300000" cy="17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Trainiertes Modell wird als fall_detection_real_150x6_float32.tflite in app/src/main/assets ausgeliefert.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metadata.json enthält Mean und Standardabweichung für die identische Normalisierung in Android.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TFLite Interpreter führt die Inferenz lokal auf dem Gerät aus.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Keine Cloud-Abhängigkeit im Erkennungspfad: schnellere Reaktion und bessere Privatsphäre.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App reagiert mit Statusanzeige, Warnung oder 30-Sekunden-Notfall-Countdown.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Testmodus und Validierung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22000"/>
            <a:ext cx="6300000" cy="17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Die App enthält einen eigenen Testmodus für typische Grenzfälle.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Simulierte Szenarien: echter Sturz, Rempler, Gehen, Joggen, Handy fällt vom Tisch, Hinsetzen, Stolpern, Treppe.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Jeder Test zeigt erwartetes Ergebnis, KI-Sturzwahrscheinlichkeit, Sicherheitsregel und Gesamtbewertung.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System-Log protokolliert Modellladung, Überwachungsstatus, Erkennungen und Countdown-Aktionen.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Damit lässt sich die Funktionsweise in der Präsentation live demonstrieren.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008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270000" y="151200"/>
            <a:ext cx="6552000" cy="288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3400" dirty="0" b="1">
                <a:solidFill>
                  <a:srgbClr val="17212B"/>
                </a:solidFill>
                <a:latin typeface="Aptos"/>
              </a:rPr>
              <a:t>Fazit und Ausblick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342000" y="522000"/>
            <a:ext cx="6300000" cy="17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Das Projekt verbindet mobile Sensorik, ein trainiertes Zeitreihen-CNN und praktische Sicherheitslogik.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Die reine Modellleistung ist stark, besonders bei der Sturzklasse.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Die App ist so aufgebaut, dass Fehlalarme durch sturzähnliche Bewegungen reduziert werden.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Nächste Schritte: mehr eigene Smartphone-Daten, echte Nutzerstudie, Hintergrundservice, Kontakt-/Notrufintegration und Modellvergleich mit LSTM/Transformer.</a:t>
            </a:r>
          </a:p>
          <a:p>
            <a:pPr marL="285750" indent="-171450">
              <a:buChar char="•"/>
            </a:pPr>
            <a:r>
              <a:rPr lang="de-DE" sz="2150" dirty="0" b="0">
                <a:solidFill>
                  <a:srgbClr val="17212B"/>
                </a:solidFill>
                <a:latin typeface="Aptos"/>
              </a:rPr>
              <a:t>Kernaussage: Die Lösung ist lauffähig, lokal ausführbar und technisch von Datenaufbereitung bis App-Deployment durchgängig umgesetzt.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443999" y="2322000"/>
            <a:ext cx="396000" cy="90000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/>
          <a:lstStyle/>
          <a:p>
            <a:pPr marL="0">
              <a:buNone/>
            </a:pPr>
            <a:r>
              <a:rPr lang="de-DE" sz="1000" dirty="0" b="0">
                <a:solidFill>
                  <a:srgbClr val="5B6673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rzDetektion">
  <a:themeElements>
    <a:clrScheme name="Custom">
      <a:dk1>
        <a:srgbClr val="17212B"/>
      </a:dk1>
      <a:lt1>
        <a:srgbClr val="FFFFFF"/>
      </a:lt1>
      <a:dk2>
        <a:srgbClr val="5B6673"/>
      </a:dk2>
      <a:lt2>
        <a:srgbClr val="F7F8FA"/>
      </a:lt2>
      <a:accent1>
        <a:srgbClr val="2563EB"/>
      </a:accent1>
      <a:accent2>
        <a:srgbClr val="0F9F8F"/>
      </a:accent2>
      <a:accent3>
        <a:srgbClr val="DC2626"/>
      </a:accent3>
      <a:accent4>
        <a:srgbClr val="F59E0B"/>
      </a:accent4>
      <a:accent5>
        <a:srgbClr val="16A34A"/>
      </a:accent5>
      <a:accent6>
        <a:srgbClr val="64748B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17</Slides>
  <Notes>0</Notes>
  <HiddenSlides>0</HiddenSlide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SturzDetektion Abschlusspräsentation</dc:title>
  <dc:subject>KI-basierte Sturzerkennung</dc:subject>
  <dc:creator>Codex</dc:creator>
  <cp:lastModifiedBy>Codex</cp:lastModifiedBy>
  <dcterms:created xsi:type="dcterms:W3CDTF">2026-06-24T17:36:28Z</dcterms:created>
  <dcterms:modified xsi:type="dcterms:W3CDTF">2026-06-24T17:36:28Z</dcterms:modified>
</cp:coreProperties>
</file>